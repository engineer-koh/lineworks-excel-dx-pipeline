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48495" cy="2119835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0" rIns="731520" rtlCol="0" anchor="ctr"/>
          <a:lstStyle/>
          <a:p>
            <a:pPr algn="ctr">
              <a:defRPr sz="2800" b="1">
                <a:solidFill>
                  <a:srgbClr val="1F4E78"/>
                </a:solidFill>
              </a:defRPr>
            </a:pP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社内サーバー移行およびセキュリティに関する</a:t>
            </a:r>
            <a:endParaRPr 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>
              <a:defRPr sz="2800" b="1">
                <a:solidFill>
                  <a:srgbClr val="1F4E78"/>
                </a:solidFill>
              </a:defRPr>
            </a:pP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事前確認依頼書用に向けた確認事項</a:t>
            </a:r>
            <a:endParaRPr 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>
              <a:defRPr sz="2800" b="1">
                <a:solidFill>
                  <a:srgbClr val="1F4E78"/>
                </a:solidFill>
              </a:defRPr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B2E0F7E-D0F5-CEF1-E68B-1B72AE392E76}"/>
              </a:ext>
            </a:extLst>
          </p:cNvPr>
          <p:cNvSpPr/>
          <p:nvPr/>
        </p:nvSpPr>
        <p:spPr>
          <a:xfrm>
            <a:off x="9586452" y="5319252"/>
            <a:ext cx="2153264" cy="98322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dirty="0">
                <a:solidFill>
                  <a:schemeClr val="tx1"/>
                </a:solidFill>
              </a:rPr>
              <a:t>所属：大阪オフィス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氏名：末永孝一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作成日：</a:t>
            </a:r>
            <a:r>
              <a:rPr kumimoji="1" lang="en-US" altLang="ja-JP" sz="1600" dirty="0">
                <a:solidFill>
                  <a:schemeClr val="tx1"/>
                </a:solidFill>
              </a:rPr>
              <a:t>2026/09/17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>
                <a:latin typeface="メイリオ" panose="020B0604030504040204" pitchFamily="50" charset="-128"/>
                <a:ea typeface="メイリオ" panose="020B0604030504040204" pitchFamily="50" charset="-128"/>
              </a:rPr>
              <a:t>1. 目的・システム概要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96181"/>
            <a:ext cx="10728655" cy="5319251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65760" rIns="457200" rtlCol="0" anchor="ctr"/>
          <a:lstStyle/>
          <a:p>
            <a:pPr>
              <a:defRPr sz="1500" b="1">
                <a:solidFill>
                  <a:srgbClr val="1F4E78"/>
                </a:solidFill>
              </a:defRPr>
            </a:pP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目的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endParaRPr 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500" b="1">
                <a:solidFill>
                  <a:srgbClr val="1F4E78"/>
                </a:solidFill>
              </a:defRPr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   </a:t>
            </a: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現在ローカルPC上で検証中の「LINE</a:t>
            </a: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WORKS連携</a:t>
            </a: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日報自動化・PPTX生成ボット（FastAPIサーバ</a:t>
            </a: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ー）」</a:t>
            </a:r>
            <a:endParaRPr 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</a:t>
            </a: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について、継続的運用およびマルチユーザー対応を見据えた社内サーバーへの移行・デプロイに向けた</a:t>
            </a:r>
            <a:endParaRPr 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</a:t>
            </a: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事前確認</a:t>
            </a: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</a:p>
          <a:p>
            <a:pPr>
              <a:defRPr sz="1500" b="1">
                <a:solidFill>
                  <a:srgbClr val="1F4E78"/>
                </a:solidFill>
              </a:defRPr>
            </a:pP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開発言語</a:t>
            </a: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 / FW</a:t>
            </a:r>
            <a:endParaRPr 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500" b="1">
                <a:solidFill>
                  <a:srgbClr val="1F4E78"/>
                </a:solidFill>
              </a:defRPr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   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Python 3.10 / </a:t>
            </a: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FastAPI</a:t>
            </a: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500" b="1">
                <a:solidFill>
                  <a:srgbClr val="1F4E78"/>
                </a:solidFill>
              </a:defRPr>
            </a:pP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外部連携API</a:t>
            </a:r>
            <a:endParaRPr 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500" b="1">
                <a:solidFill>
                  <a:srgbClr val="1F4E78"/>
                </a:solidFill>
              </a:defRPr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   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 WORKS Webhook API, LINE WORKS Bot API, Gemini API</a:t>
            </a:r>
          </a:p>
          <a:p>
            <a:pPr>
              <a:defRPr sz="1500" b="1">
                <a:solidFill>
                  <a:srgbClr val="1F4E78"/>
                </a:solidFill>
              </a:defRPr>
            </a:pP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主な機能</a:t>
            </a:r>
            <a:endParaRPr 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500" b="1">
                <a:solidFill>
                  <a:srgbClr val="1F4E78"/>
                </a:solidFill>
              </a:defRPr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   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・</a:t>
            </a: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Excel日報の自動パース</a:t>
            </a: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endParaRPr 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・</a:t>
            </a: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Geminiによる要約</a:t>
            </a: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endParaRPr 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・</a:t>
            </a: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テンプレート適用済みPPTX</a:t>
            </a: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JSONの自動生成</a:t>
            </a: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endParaRPr 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・</a:t>
            </a: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エラー時のLINE</a:t>
            </a: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WORKSプッシュ通知</a:t>
            </a: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2. </a:t>
            </a:r>
            <a:r>
              <a:rPr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社内サーバーに関する確認事項（インフラ・ネットワーク要件</a:t>
            </a:r>
            <a:r>
              <a:rPr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781449"/>
              </p:ext>
            </p:extLst>
          </p:nvPr>
        </p:nvGraphicFramePr>
        <p:xfrm>
          <a:off x="731520" y="1554480"/>
          <a:ext cx="10688003" cy="3587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2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7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5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項目</a:t>
                      </a:r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確認内容・要件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備考・目的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41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23232"/>
                          </a:solidFill>
                        </a:defRPr>
                      </a:pP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① 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サーバーの常時稼働とOS</a:t>
                      </a:r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・24時間、</a:t>
                      </a: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又は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業務時間中に常時起動できるサーバ</a:t>
                      </a: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ー</a:t>
                      </a:r>
                      <a:endParaRPr 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（Linux/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Windows）の利用可否</a:t>
                      </a:r>
                      <a:b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Dockerコンテナ利用環境の有無</a:t>
                      </a:r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ローカルPCのスリープや電源OFFによる</a:t>
                      </a:r>
                      <a:endParaRPr 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Webhook着信ロストを防ぐため</a:t>
                      </a:r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4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23232"/>
                          </a:solidFill>
                        </a:defRPr>
                      </a:pPr>
                      <a:r>
                        <a:rPr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② 外部からのWebhook受信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外部（LINE</a:t>
                      </a: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WORKS）からのHTTPSリクエストを</a:t>
                      </a:r>
                      <a:endParaRPr 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サーバーの指定ポートへルーティング（リバースプロキシ等</a:t>
                      </a: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可能</a:t>
                      </a: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イベント通知をリアルタイムで</a:t>
                      </a:r>
                      <a:endParaRPr 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受け取るために必須</a:t>
                      </a:r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0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23232"/>
                          </a:solidFill>
                        </a:defRPr>
                      </a:pPr>
                      <a:r>
                        <a:rPr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③ 外部へのアウトバウンド通信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外部</a:t>
                      </a: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worksapis.com 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および</a:t>
                      </a: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Gemini API 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へ向けたHTTPS外向き</a:t>
                      </a:r>
                      <a:endParaRPr 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通信がファイアウォール等でブロックされないか</a:t>
                      </a:r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トークン取得</a:t>
                      </a: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、</a:t>
                      </a:r>
                      <a:endParaRPr 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ファイルダウンロード</a:t>
                      </a: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、</a:t>
                      </a:r>
                      <a:endParaRPr 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AI要約の実行に必要</a:t>
                      </a:r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41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23232"/>
                          </a:solidFill>
                        </a:defRPr>
                      </a:pPr>
                      <a:r>
                        <a:rPr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④ Python実行環境・権限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必要なパッケージ（openpyxl</a:t>
                      </a: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, python-pptx, 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fastapi</a:t>
                      </a: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, 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httpx等）の</a:t>
                      </a:r>
                      <a:endParaRPr 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　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pipインストール権限、またはvenv作成権限</a:t>
                      </a:r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依存ライブラリの導入・維持管理のため</a:t>
                      </a:r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>
                <a:latin typeface="メイリオ" panose="020B0604030504040204" pitchFamily="50" charset="-128"/>
                <a:ea typeface="メイリオ" panose="020B0604030504040204" pitchFamily="50" charset="-128"/>
              </a:rPr>
              <a:t>3. シークレット情報・セキュリティ管理に関する確認事項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245858"/>
              </p:ext>
            </p:extLst>
          </p:nvPr>
        </p:nvGraphicFramePr>
        <p:xfrm>
          <a:off x="731520" y="1554480"/>
          <a:ext cx="10726611" cy="3469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6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6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77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項目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確認内容・要件</a:t>
                      </a:r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備考・目的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92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23232"/>
                          </a:solidFill>
                        </a:defRPr>
                      </a:pP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① 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環境変数</a:t>
                      </a: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（.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env）の管理方針</a:t>
                      </a:r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サーバー上で機密情報を</a:t>
                      </a: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.env 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ファイルやOS環境変数として安全に</a:t>
                      </a:r>
                      <a:endParaRPr 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注入・管理する標準的な手法・規程があるか</a:t>
                      </a:r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認証情報のハードコーディング防止</a:t>
                      </a:r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25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23232"/>
                          </a:solidFill>
                        </a:defRPr>
                      </a:pPr>
                      <a:r>
                        <a:rPr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② 秘密鍵ファイルの権限管理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・RS256認証用の秘密鍵文字列やファイルをサーバー配置する際、</a:t>
                      </a:r>
                      <a:endParaRPr 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他の一般ユーザーから読まれない権限（chmod</a:t>
                      </a: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600等）管理が可能か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認証情報の不正アクセス防止</a:t>
                      </a:r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81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23232"/>
                          </a:solidFill>
                        </a:defRPr>
                      </a:pP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③ 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社内シークレット管理ツール</a:t>
                      </a:r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社内インフラ基盤側で、暗号化された秘密情報管理機能</a:t>
                      </a:r>
                      <a:endParaRPr 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シークレットマネージャー等）の利用が可能か</a:t>
                      </a:r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rPr lang="ja-JP" altLang="en-US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dirty="0" err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より堅牢なシークレット運用の実現</a:t>
                      </a:r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031">
                <a:tc>
                  <a:txBody>
                    <a:bodyPr/>
                    <a:lstStyle/>
                    <a:p>
                      <a:endParaRPr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281</Words>
  <Application>Microsoft Office PowerPoint</Application>
  <PresentationFormat>ワイド画面</PresentationFormat>
  <Paragraphs>63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メイリオ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孝一 末永</cp:lastModifiedBy>
  <cp:revision>5</cp:revision>
  <dcterms:created xsi:type="dcterms:W3CDTF">2013-01-27T09:14:16Z</dcterms:created>
  <dcterms:modified xsi:type="dcterms:W3CDTF">2026-09-17T07:27:06Z</dcterms:modified>
  <cp:category/>
</cp:coreProperties>
</file>