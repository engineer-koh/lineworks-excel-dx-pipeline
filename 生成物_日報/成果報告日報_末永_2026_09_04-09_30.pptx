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 id="257" r:id="rId8"/>
    <p:sldId id="258" r:id="rId9"/>
    <p:sldId id="259" r:id="rId10"/>
    <p:sldId id="260" r:id="rId11"/>
    <p:sldId id="261" r:id="rId12"/>
    <p:sldId id="262" r:id="rId13"/>
    <p:sldId id="263" r:id="rId14"/>
    <p:sldId id="264"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56524899-8C90-4F18-88AE-251B8A5627C3}">
          <p14:sldIdLst>
            <p14:sldId id="2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66FF66"/>
    <a:srgbClr val="75D8FF"/>
    <a:srgbClr val="005898"/>
    <a:srgbClr val="005EA2"/>
    <a:srgbClr val="31B7FF"/>
    <a:srgbClr val="CFE6FC"/>
    <a:srgbClr val="CBE0F5"/>
    <a:srgbClr val="CDE8F3"/>
    <a:srgbClr val="27A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6" autoAdjust="0"/>
    <p:restoredTop sz="94687" autoAdjust="0"/>
  </p:normalViewPr>
  <p:slideViewPr>
    <p:cSldViewPr snapToGrid="0">
      <p:cViewPr varScale="1">
        <p:scale>
          <a:sx n="78" d="100"/>
          <a:sy n="78" d="100"/>
        </p:scale>
        <p:origin x="854"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27835-E4B8-4D83-BADF-8C4B5AAB426C}" type="datetimeFigureOut">
              <a:rPr kumimoji="1" lang="ja-JP" altLang="en-US" smtClean="0"/>
              <a:t>2026/9/11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1C3851-245D-48B1-A473-D43F0ECA27B7}"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62474FEE-5713-C373-A13C-77556888EAA2}"/>
              </a:ext>
            </a:extLst>
          </p:cNvPr>
          <p:cNvSpPr/>
          <p:nvPr userDrawn="1"/>
        </p:nvSpPr>
        <p:spPr>
          <a:xfrm>
            <a:off x="1082842" y="0"/>
            <a:ext cx="11109158" cy="6686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A82E63BC-3F37-FA08-71D5-0F14CE2AA064}"/>
              </a:ext>
            </a:extLst>
          </p:cNvPr>
          <p:cNvSpPr/>
          <p:nvPr userDrawn="1"/>
        </p:nvSpPr>
        <p:spPr>
          <a:xfrm>
            <a:off x="1" y="0"/>
            <a:ext cx="1633263" cy="668655"/>
          </a:xfrm>
          <a:custGeom>
            <a:avLst/>
            <a:gdLst>
              <a:gd name="connsiteX0" fmla="*/ 0 w 1152000"/>
              <a:gd name="connsiteY0" fmla="*/ 0 h 1148316"/>
              <a:gd name="connsiteX1" fmla="*/ 1152000 w 1152000"/>
              <a:gd name="connsiteY1" fmla="*/ 0 h 1148316"/>
              <a:gd name="connsiteX2" fmla="*/ 1152000 w 1152000"/>
              <a:gd name="connsiteY2" fmla="*/ 1148316 h 1148316"/>
              <a:gd name="connsiteX3" fmla="*/ 0 w 1152000"/>
              <a:gd name="connsiteY3" fmla="*/ 1148316 h 1148316"/>
              <a:gd name="connsiteX4" fmla="*/ 0 w 1152000"/>
              <a:gd name="connsiteY4" fmla="*/ 0 h 1148316"/>
              <a:gd name="connsiteX0" fmla="*/ 0 w 1633263"/>
              <a:gd name="connsiteY0" fmla="*/ 0 h 1148316"/>
              <a:gd name="connsiteX1" fmla="*/ 1633263 w 1633263"/>
              <a:gd name="connsiteY1" fmla="*/ 0 h 1148316"/>
              <a:gd name="connsiteX2" fmla="*/ 1152000 w 1633263"/>
              <a:gd name="connsiteY2" fmla="*/ 1148316 h 1148316"/>
              <a:gd name="connsiteX3" fmla="*/ 0 w 1633263"/>
              <a:gd name="connsiteY3" fmla="*/ 1148316 h 1148316"/>
              <a:gd name="connsiteX4" fmla="*/ 0 w 1633263"/>
              <a:gd name="connsiteY4" fmla="*/ 0 h 1148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263" h="1148316">
                <a:moveTo>
                  <a:pt x="0" y="0"/>
                </a:moveTo>
                <a:lnTo>
                  <a:pt x="1633263" y="0"/>
                </a:lnTo>
                <a:lnTo>
                  <a:pt x="1152000" y="1148316"/>
                </a:lnTo>
                <a:lnTo>
                  <a:pt x="0" y="1148316"/>
                </a:lnTo>
                <a:lnTo>
                  <a:pt x="0" y="0"/>
                </a:lnTo>
                <a:close/>
              </a:path>
            </a:pathLst>
          </a:custGeom>
          <a:gradFill flip="none" rotWithShape="1">
            <a:gsLst>
              <a:gs pos="0">
                <a:srgbClr val="21BCFF"/>
              </a:gs>
              <a:gs pos="90000">
                <a:srgbClr val="0063AB"/>
              </a:gs>
            </a:gsLst>
            <a:lin ang="2159400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タイトル 1"/>
          <p:cNvSpPr>
            <a:spLocks noGrp="1"/>
          </p:cNvSpPr>
          <p:nvPr>
            <p:ph type="title" hasCustomPrompt="1"/>
          </p:nvPr>
        </p:nvSpPr>
        <p:spPr>
          <a:xfrm>
            <a:off x="1803534" y="92355"/>
            <a:ext cx="7821729" cy="483943"/>
          </a:xfrm>
        </p:spPr>
        <p:txBody>
          <a:bodyPr/>
          <a:lstStyle>
            <a:lvl1pPr>
              <a:defRPr sz="2400" b="1"/>
            </a:lvl1pPr>
          </a:lstStyle>
          <a:p>
            <a:r>
              <a:rPr kumimoji="1" lang="ja-JP" altLang="en-US" dirty="0"/>
              <a:t>タイトル</a:t>
            </a:r>
          </a:p>
        </p:txBody>
      </p:sp>
      <p:sp>
        <p:nvSpPr>
          <p:cNvPr id="2" name="テキスト プレースホルダー 18"/>
          <p:cNvSpPr>
            <a:spLocks noGrp="1"/>
          </p:cNvSpPr>
          <p:nvPr>
            <p:ph type="body" sz="quarter" idx="15"/>
          </p:nvPr>
        </p:nvSpPr>
        <p:spPr>
          <a:xfrm>
            <a:off x="632460" y="1295400"/>
            <a:ext cx="10535920" cy="941070"/>
          </a:xfrm>
        </p:spPr>
        <p:txBody>
          <a:bodyPr/>
          <a:lstStyle>
            <a:lvl1pPr>
              <a:defRPr>
                <a:latin typeface="+mn-ea"/>
                <a:ea typeface="+mn-ea"/>
                <a:cs typeface="+mn-ea"/>
              </a:defRPr>
            </a:lvl1pPr>
            <a:lvl2pPr marL="457200" indent="0">
              <a:buNone/>
              <a:defRPr/>
            </a:lvl2pPr>
          </a:lstStyle>
          <a:p>
            <a:pPr lvl="0"/>
            <a:r>
              <a:rPr kumimoji="1" lang="ja-JP" altLang="en-US" dirty="0"/>
              <a:t>マスター テキストの書式設定</a:t>
            </a:r>
          </a:p>
        </p:txBody>
      </p:sp>
      <p:sp>
        <p:nvSpPr>
          <p:cNvPr id="13" name="Freeform 40"/>
          <p:cNvSpPr/>
          <p:nvPr userDrawn="1"/>
        </p:nvSpPr>
        <p:spPr>
          <a:xfrm>
            <a:off x="9885680" y="213610"/>
            <a:ext cx="1828800" cy="382659"/>
          </a:xfrm>
          <a:custGeom>
            <a:avLst/>
            <a:gdLst/>
            <a:ahLst/>
            <a:cxnLst/>
            <a:rect l="l" t="t" r="r" b="b"/>
            <a:pathLst>
              <a:path w="2967655" h="620954">
                <a:moveTo>
                  <a:pt x="0" y="0"/>
                </a:moveTo>
                <a:lnTo>
                  <a:pt x="2967655" y="0"/>
                </a:lnTo>
                <a:lnTo>
                  <a:pt x="2967655" y="620954"/>
                </a:lnTo>
                <a:lnTo>
                  <a:pt x="0" y="620954"/>
                </a:lnTo>
                <a:lnTo>
                  <a:pt x="0" y="0"/>
                </a:lnTo>
                <a:close/>
              </a:path>
            </a:pathLst>
          </a:custGeom>
          <a:blipFill>
            <a:blip r:embed="rId2" cstate="print">
              <a:extLst>
                <a:ext uri="{28A0092B-C50C-407E-A947-70E740481C1C}">
                  <a14:useLocalDpi xmlns:a14="http://schemas.microsoft.com/office/drawing/2010/main" val="0"/>
                </a:ext>
              </a:extLst>
            </a:blip>
            <a:stretch>
              <a:fillRect/>
            </a:stretch>
          </a:blipFill>
        </p:spPr>
        <p:txBody>
          <a:bodyPr/>
          <a:lstStyle/>
          <a:p>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gradFill flip="none" rotWithShape="1">
          <a:gsLst>
            <a:gs pos="0">
              <a:srgbClr val="31B7FF"/>
            </a:gs>
            <a:gs pos="95000">
              <a:srgbClr val="005EA2"/>
            </a:gs>
          </a:gsLst>
          <a:lin ang="21594000" scaled="0"/>
          <a:tileRect/>
        </a:gradFill>
        <a:effectLst/>
      </p:bgPr>
    </p:bg>
    <p:spTree>
      <p:nvGrpSpPr>
        <p:cNvPr id="1" name=""/>
        <p:cNvGrpSpPr/>
        <p:nvPr/>
      </p:nvGrpSpPr>
      <p:grpSpPr>
        <a:xfrm>
          <a:off x="0" y="0"/>
          <a:ext cx="0" cy="0"/>
          <a:chOff x="0" y="0"/>
          <a:chExt cx="0" cy="0"/>
        </a:xfrm>
      </p:grpSpPr>
      <p:sp>
        <p:nvSpPr>
          <p:cNvPr id="6" name="Freeform 2">
            <a:extLst>
              <a:ext uri="{FF2B5EF4-FFF2-40B4-BE49-F238E27FC236}">
                <a16:creationId xmlns:a16="http://schemas.microsoft.com/office/drawing/2014/main" id="{B02B04FC-6C85-67E6-A8E1-930A62B249E7}"/>
              </a:ext>
            </a:extLst>
          </p:cNvPr>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cstate="print">
              <a:lum bright="70000" contrast="-70000"/>
              <a:alphaModFix amt="20000"/>
              <a:extLst>
                <a:ext uri="{28A0092B-C50C-407E-A947-70E740481C1C}">
                  <a14:useLocalDpi xmlns:a14="http://schemas.microsoft.com/office/drawing/2010/main" val="0"/>
                </a:ext>
              </a:extLst>
            </a:blip>
            <a:stretch>
              <a:fillRect/>
            </a:stretch>
          </a:blipFill>
        </p:spPr>
        <p:txBody>
          <a:bodyPr/>
          <a:lstStyle/>
          <a:p>
            <a:endParaRPr lang="ja-JP" altLang="en-US"/>
          </a:p>
        </p:txBody>
      </p:sp>
      <p:sp>
        <p:nvSpPr>
          <p:cNvPr id="3" name="正方形/長方形 2">
            <a:extLst>
              <a:ext uri="{FF2B5EF4-FFF2-40B4-BE49-F238E27FC236}">
                <a16:creationId xmlns:a16="http://schemas.microsoft.com/office/drawing/2014/main" id="{A7A9BA13-0FBD-13D5-8347-710AECC13C78}"/>
              </a:ext>
            </a:extLst>
          </p:cNvPr>
          <p:cNvSpPr/>
          <p:nvPr userDrawn="1"/>
        </p:nvSpPr>
        <p:spPr>
          <a:xfrm>
            <a:off x="398206" y="412955"/>
            <a:ext cx="11356259" cy="5766620"/>
          </a:xfrm>
          <a:prstGeom prst="rect">
            <a:avLst/>
          </a:prstGeom>
          <a:solidFill>
            <a:schemeClr val="bg1">
              <a:alpha val="80000"/>
            </a:schemeClr>
          </a:solidFill>
          <a:ln>
            <a:noFill/>
          </a:ln>
          <a:effectLst>
            <a:glow rad="317500">
              <a:srgbClr val="005EA2">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pic>
        <p:nvPicPr>
          <p:cNvPr id="40" name="グラフィックス 39"/>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89444" y="1091545"/>
            <a:ext cx="2813112" cy="720009"/>
          </a:xfrm>
          <a:prstGeom prst="rect">
            <a:avLst/>
          </a:prstGeom>
        </p:spPr>
      </p:pic>
      <p:sp>
        <p:nvSpPr>
          <p:cNvPr id="2" name="タイトル 1"/>
          <p:cNvSpPr>
            <a:spLocks noGrp="1"/>
          </p:cNvSpPr>
          <p:nvPr>
            <p:ph type="ctrTitle" hasCustomPrompt="1"/>
          </p:nvPr>
        </p:nvSpPr>
        <p:spPr>
          <a:xfrm>
            <a:off x="1724025" y="3045542"/>
            <a:ext cx="8743950" cy="949900"/>
          </a:xfrm>
        </p:spPr>
        <p:txBody>
          <a:bodyPr wrap="none" anchor="b">
            <a:noAutofit/>
          </a:bodyPr>
          <a:lstStyle>
            <a:lvl1pPr algn="ctr">
              <a:defRPr sz="6000" b="1" spc="300">
                <a:gradFill>
                  <a:gsLst>
                    <a:gs pos="0">
                      <a:srgbClr val="31B7FF"/>
                    </a:gs>
                    <a:gs pos="100000">
                      <a:srgbClr val="005EA2"/>
                    </a:gs>
                  </a:gsLst>
                  <a:lin ang="21594000" scaled="0"/>
                </a:gradFill>
                <a:effectLst>
                  <a:outerShdw blurRad="127000" dist="38100" dir="2700000" algn="tl" rotWithShape="0">
                    <a:srgbClr val="005898">
                      <a:alpha val="35000"/>
                    </a:srgbClr>
                  </a:outerShdw>
                </a:effectLst>
                <a:latin typeface="游ゴシック" panose="020B0400000000000000" pitchFamily="50" charset="-128"/>
                <a:ea typeface="游ゴシック" panose="020B0400000000000000" pitchFamily="50" charset="-128"/>
              </a:defRPr>
            </a:lvl1pPr>
          </a:lstStyle>
          <a:p>
            <a:r>
              <a:rPr kumimoji="1" lang="ja-JP" altLang="en-US" dirty="0"/>
              <a:t>研修タイトル</a:t>
            </a:r>
          </a:p>
        </p:txBody>
      </p:sp>
      <p:sp>
        <p:nvSpPr>
          <p:cNvPr id="15" name="テキスト プレースホルダー 9"/>
          <p:cNvSpPr>
            <a:spLocks noGrp="1"/>
          </p:cNvSpPr>
          <p:nvPr>
            <p:ph type="body" sz="quarter" idx="14" hasCustomPrompt="1"/>
          </p:nvPr>
        </p:nvSpPr>
        <p:spPr>
          <a:xfrm>
            <a:off x="8820653" y="6400412"/>
            <a:ext cx="2828925" cy="224060"/>
          </a:xfrm>
        </p:spPr>
        <p:txBody>
          <a:bodyPr>
            <a:noAutofit/>
          </a:bodyPr>
          <a:lstStyle>
            <a:lvl1pPr marL="0" indent="0" algn="r">
              <a:buNone/>
              <a:defRPr sz="1200" b="1">
                <a:solidFill>
                  <a:schemeClr val="bg1"/>
                </a:solidFill>
              </a:defRPr>
            </a:lvl1pPr>
          </a:lstStyle>
          <a:p>
            <a:r>
              <a:rPr lang="en-US" altLang="ja-JP" dirty="0"/>
              <a:t>1</a:t>
            </a:r>
            <a:endParaRPr lang="ja-JP" altLang="en-US" dirty="0"/>
          </a:p>
        </p:txBody>
      </p:sp>
      <p:sp>
        <p:nvSpPr>
          <p:cNvPr id="5" name="テキスト プレースホルダー 9">
            <a:extLst>
              <a:ext uri="{FF2B5EF4-FFF2-40B4-BE49-F238E27FC236}">
                <a16:creationId xmlns:a16="http://schemas.microsoft.com/office/drawing/2014/main" id="{D058BBEB-2855-D2A5-A767-0C2B73796E03}"/>
              </a:ext>
            </a:extLst>
          </p:cNvPr>
          <p:cNvSpPr>
            <a:spLocks noGrp="1"/>
          </p:cNvSpPr>
          <p:nvPr>
            <p:ph type="body" sz="quarter" idx="15" hasCustomPrompt="1"/>
          </p:nvPr>
        </p:nvSpPr>
        <p:spPr>
          <a:xfrm>
            <a:off x="8332840" y="5383161"/>
            <a:ext cx="3228780" cy="678426"/>
          </a:xfrm>
        </p:spPr>
        <p:txBody>
          <a:bodyPr>
            <a:noAutofit/>
          </a:bodyPr>
          <a:lstStyle>
            <a:lvl1pPr marL="0" indent="0">
              <a:buNone/>
              <a:defRPr sz="1600" b="1">
                <a:solidFill>
                  <a:schemeClr val="tx1">
                    <a:lumMod val="75000"/>
                  </a:schemeClr>
                </a:solidFill>
              </a:defRPr>
            </a:lvl1pPr>
          </a:lstStyle>
          <a:p>
            <a:r>
              <a:rPr lang="ja-JP" altLang="en-US"/>
              <a:t>所属</a:t>
            </a:r>
            <a:endParaRPr lang="en-US" altLang="ja-JP" dirty="0"/>
          </a:p>
          <a:p>
            <a:r>
              <a:rPr lang="ja-JP" altLang="en-US"/>
              <a:t>作者名</a:t>
            </a:r>
            <a:endParaRPr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gradFill flip="none" rotWithShape="1">
          <a:gsLst>
            <a:gs pos="0">
              <a:srgbClr val="31B7FF"/>
            </a:gs>
            <a:gs pos="50000">
              <a:srgbClr val="005EA2"/>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7" name="Group 2"/>
          <p:cNvGrpSpPr/>
          <p:nvPr userDrawn="1"/>
        </p:nvGrpSpPr>
        <p:grpSpPr>
          <a:xfrm>
            <a:off x="4238593" y="-72330"/>
            <a:ext cx="7953408" cy="6930331"/>
            <a:chOff x="0" y="-28575"/>
            <a:chExt cx="3293895" cy="2737908"/>
          </a:xfrm>
        </p:grpSpPr>
        <p:sp>
          <p:nvSpPr>
            <p:cNvPr id="8" name="Freeform 3"/>
            <p:cNvSpPr/>
            <p:nvPr/>
          </p:nvSpPr>
          <p:spPr>
            <a:xfrm>
              <a:off x="0" y="0"/>
              <a:ext cx="3293895" cy="2709333"/>
            </a:xfrm>
            <a:custGeom>
              <a:avLst/>
              <a:gdLst/>
              <a:ahLst/>
              <a:cxnLst/>
              <a:rect l="l" t="t" r="r" b="b"/>
              <a:pathLst>
                <a:path w="3293895" h="2709333">
                  <a:moveTo>
                    <a:pt x="0" y="0"/>
                  </a:moveTo>
                  <a:lnTo>
                    <a:pt x="3293895" y="0"/>
                  </a:lnTo>
                  <a:lnTo>
                    <a:pt x="3293895" y="2709333"/>
                  </a:lnTo>
                  <a:lnTo>
                    <a:pt x="0" y="2709333"/>
                  </a:lnTo>
                  <a:close/>
                </a:path>
              </a:pathLst>
            </a:custGeom>
            <a:solidFill>
              <a:srgbClr val="FFFFFF"/>
            </a:solidFill>
          </p:spPr>
          <p:txBody>
            <a:bodyPr/>
            <a:lstStyle/>
            <a:p>
              <a:endParaRPr lang="ja-JP" altLang="en-US" sz="2000" dirty="0"/>
            </a:p>
          </p:txBody>
        </p:sp>
        <p:sp>
          <p:nvSpPr>
            <p:cNvPr id="9" name="TextBox 4"/>
            <p:cNvSpPr txBox="1"/>
            <p:nvPr/>
          </p:nvSpPr>
          <p:spPr>
            <a:xfrm>
              <a:off x="0" y="-28575"/>
              <a:ext cx="3293895" cy="2737908"/>
            </a:xfrm>
            <a:prstGeom prst="rect">
              <a:avLst/>
            </a:prstGeom>
          </p:spPr>
          <p:txBody>
            <a:bodyPr lIns="50800" tIns="50800" rIns="50800" bIns="50800" rtlCol="0" anchor="ctr"/>
            <a:lstStyle/>
            <a:p>
              <a:pPr algn="ctr">
                <a:lnSpc>
                  <a:spcPts val="2660"/>
                </a:lnSpc>
              </a:pPr>
              <a:endParaRPr sz="2000"/>
            </a:p>
          </p:txBody>
        </p:sp>
      </p:grpSp>
      <p:sp>
        <p:nvSpPr>
          <p:cNvPr id="59" name="スライド番号プレースホルダー 5"/>
          <p:cNvSpPr>
            <a:spLocks noGrp="1"/>
          </p:cNvSpPr>
          <p:nvPr>
            <p:ph type="sldNum" sz="quarter" idx="12"/>
          </p:nvPr>
        </p:nvSpPr>
        <p:spPr>
          <a:xfrm>
            <a:off x="8899139" y="6143185"/>
            <a:ext cx="2743200" cy="365125"/>
          </a:xfrm>
        </p:spPr>
        <p:txBody>
          <a:bodyPr/>
          <a:lstStyle>
            <a:lvl1pPr>
              <a:defRPr b="1">
                <a:solidFill>
                  <a:srgbClr val="545454"/>
                </a:solidFill>
              </a:defRPr>
            </a:lvl1pPr>
          </a:lstStyle>
          <a:p>
            <a:fld id="{DB143CDF-71D5-48D5-A8A3-4D2BF5A187F6}" type="slidenum">
              <a:rPr lang="ja-JP" altLang="en-US" smtClean="0"/>
              <a:t>‹#›</a:t>
            </a:fld>
            <a:endParaRPr lang="ja-JP" altLang="en-US" dirty="0"/>
          </a:p>
        </p:txBody>
      </p:sp>
      <p:sp>
        <p:nvSpPr>
          <p:cNvPr id="2" name="テキスト プレースホルダー 3"/>
          <p:cNvSpPr>
            <a:spLocks noGrp="1"/>
          </p:cNvSpPr>
          <p:nvPr>
            <p:ph type="body" sz="half" idx="2" hasCustomPrompt="1"/>
          </p:nvPr>
        </p:nvSpPr>
        <p:spPr>
          <a:xfrm>
            <a:off x="5982720" y="1331083"/>
            <a:ext cx="3932237" cy="305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ja-JP" altLang="en-US" spc="160" dirty="0">
                <a:solidFill>
                  <a:srgbClr val="545454"/>
                </a:solidFill>
                <a:cs typeface="Calibri" panose="020F0502020204030204" pitchFamily="34" charset="0"/>
                <a:sym typeface="Roboto Condensed"/>
              </a:rPr>
              <a:t>タイトルを入れてください</a:t>
            </a:r>
            <a:endParaRPr lang="ja-JP" altLang="en-US" sz="1600" b="0" spc="160" dirty="0">
              <a:solidFill>
                <a:srgbClr val="545454"/>
              </a:solidFill>
              <a:latin typeface="+mn-lt"/>
              <a:ea typeface="+mn-ea"/>
              <a:cs typeface="Calibri" panose="020F0502020204030204" pitchFamily="34" charset="0"/>
              <a:sym typeface="Roboto Condensed"/>
            </a:endParaRPr>
          </a:p>
        </p:txBody>
      </p:sp>
      <p:sp>
        <p:nvSpPr>
          <p:cNvPr id="3" name="テキスト プレースホルダー 3"/>
          <p:cNvSpPr>
            <a:spLocks noGrp="1"/>
          </p:cNvSpPr>
          <p:nvPr>
            <p:ph type="body" sz="half" idx="13" hasCustomPrompt="1"/>
          </p:nvPr>
        </p:nvSpPr>
        <p:spPr>
          <a:xfrm>
            <a:off x="5982720" y="1020042"/>
            <a:ext cx="3932237" cy="305312"/>
          </a:xfrm>
        </p:spPr>
        <p:txBody>
          <a:bodyPr/>
          <a:lstStyle>
            <a:lvl1pPr marL="0" indent="0">
              <a:buNone/>
              <a:defRPr lang="en-US" altLang="ja-JP" sz="1600" b="0" spc="160" dirty="0">
                <a:solidFill>
                  <a:srgbClr val="545454"/>
                </a:solidFill>
                <a:cs typeface="Calibri" panose="020F0502020204030204" pitchFamily="34" charset="0"/>
                <a:sym typeface="Roboto Condensed"/>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en-US" altLang="ja-JP" sz="1600" b="0" spc="160" dirty="0">
                <a:solidFill>
                  <a:srgbClr val="545454"/>
                </a:solidFill>
                <a:latin typeface="+mn-lt"/>
                <a:ea typeface="+mn-ea"/>
                <a:cs typeface="Calibri" panose="020F0502020204030204" pitchFamily="34" charset="0"/>
                <a:sym typeface="Roboto Condensed"/>
              </a:rPr>
              <a:t>TITLE</a:t>
            </a:r>
          </a:p>
        </p:txBody>
      </p:sp>
      <p:sp>
        <p:nvSpPr>
          <p:cNvPr id="10" name="テキスト プレースホルダー 3"/>
          <p:cNvSpPr>
            <a:spLocks noGrp="1"/>
          </p:cNvSpPr>
          <p:nvPr>
            <p:ph type="body" sz="half" idx="14" hasCustomPrompt="1"/>
          </p:nvPr>
        </p:nvSpPr>
        <p:spPr>
          <a:xfrm>
            <a:off x="5982720" y="2235838"/>
            <a:ext cx="3932237" cy="305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ja-JP" altLang="en-US" sz="1600" b="0" spc="160" dirty="0">
                <a:solidFill>
                  <a:srgbClr val="545454"/>
                </a:solidFill>
                <a:latin typeface="+mn-lt"/>
                <a:ea typeface="+mn-ea"/>
                <a:cs typeface="Calibri" panose="020F0502020204030204" pitchFamily="34" charset="0"/>
                <a:sym typeface="Roboto Condensed"/>
              </a:rPr>
              <a:t>タイトルを入れてください</a:t>
            </a:r>
          </a:p>
        </p:txBody>
      </p:sp>
      <p:sp>
        <p:nvSpPr>
          <p:cNvPr id="11" name="テキスト プレースホルダー 3"/>
          <p:cNvSpPr>
            <a:spLocks noGrp="1"/>
          </p:cNvSpPr>
          <p:nvPr>
            <p:ph type="body" sz="half" idx="15" hasCustomPrompt="1"/>
          </p:nvPr>
        </p:nvSpPr>
        <p:spPr>
          <a:xfrm>
            <a:off x="5982720" y="1924797"/>
            <a:ext cx="3932237" cy="305312"/>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en-US" altLang="ja-JP" sz="1600" b="0" spc="160" dirty="0">
                <a:solidFill>
                  <a:srgbClr val="545454"/>
                </a:solidFill>
                <a:latin typeface="+mn-lt"/>
                <a:ea typeface="+mn-ea"/>
                <a:cs typeface="Calibri" panose="020F0502020204030204" pitchFamily="34" charset="0"/>
                <a:sym typeface="Roboto Condensed"/>
              </a:rPr>
              <a:t>TITLE</a:t>
            </a:r>
          </a:p>
        </p:txBody>
      </p:sp>
      <p:sp>
        <p:nvSpPr>
          <p:cNvPr id="14" name="テキスト プレースホルダー 3"/>
          <p:cNvSpPr>
            <a:spLocks noGrp="1"/>
          </p:cNvSpPr>
          <p:nvPr>
            <p:ph type="body" sz="half" idx="16" hasCustomPrompt="1"/>
          </p:nvPr>
        </p:nvSpPr>
        <p:spPr>
          <a:xfrm>
            <a:off x="5982720" y="3155301"/>
            <a:ext cx="3932237" cy="305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ja-JP" altLang="en-US" sz="1600" b="0" spc="160" dirty="0">
                <a:solidFill>
                  <a:srgbClr val="545454"/>
                </a:solidFill>
                <a:latin typeface="+mn-lt"/>
                <a:ea typeface="+mn-ea"/>
                <a:cs typeface="Calibri" panose="020F0502020204030204" pitchFamily="34" charset="0"/>
                <a:sym typeface="Roboto Condensed"/>
              </a:rPr>
              <a:t>タイトルを入れてください</a:t>
            </a:r>
          </a:p>
        </p:txBody>
      </p:sp>
      <p:sp>
        <p:nvSpPr>
          <p:cNvPr id="15" name="テキスト プレースホルダー 3"/>
          <p:cNvSpPr>
            <a:spLocks noGrp="1"/>
          </p:cNvSpPr>
          <p:nvPr>
            <p:ph type="body" sz="half" idx="17" hasCustomPrompt="1"/>
          </p:nvPr>
        </p:nvSpPr>
        <p:spPr>
          <a:xfrm>
            <a:off x="5982720" y="2844260"/>
            <a:ext cx="3932237" cy="305312"/>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en-US" altLang="ja-JP" sz="1600" b="0" spc="160" dirty="0">
                <a:solidFill>
                  <a:srgbClr val="545454"/>
                </a:solidFill>
                <a:latin typeface="+mn-lt"/>
                <a:ea typeface="+mn-ea"/>
                <a:cs typeface="Calibri" panose="020F0502020204030204" pitchFamily="34" charset="0"/>
                <a:sym typeface="Roboto Condensed"/>
              </a:rPr>
              <a:t>TITLE</a:t>
            </a:r>
          </a:p>
        </p:txBody>
      </p:sp>
      <p:sp>
        <p:nvSpPr>
          <p:cNvPr id="33" name="テキスト プレースホルダー 3"/>
          <p:cNvSpPr>
            <a:spLocks noGrp="1"/>
          </p:cNvSpPr>
          <p:nvPr>
            <p:ph type="body" sz="half" idx="20" hasCustomPrompt="1"/>
          </p:nvPr>
        </p:nvSpPr>
        <p:spPr>
          <a:xfrm>
            <a:off x="5982720" y="4055123"/>
            <a:ext cx="3932237" cy="305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ja-JP" altLang="en-US" sz="1600" b="0" spc="160" dirty="0">
                <a:solidFill>
                  <a:srgbClr val="545454"/>
                </a:solidFill>
                <a:latin typeface="+mn-lt"/>
                <a:ea typeface="+mn-ea"/>
                <a:cs typeface="Calibri" panose="020F0502020204030204" pitchFamily="34" charset="0"/>
                <a:sym typeface="Roboto Condensed"/>
              </a:rPr>
              <a:t>タイトルを入れてください</a:t>
            </a:r>
          </a:p>
        </p:txBody>
      </p:sp>
      <p:sp>
        <p:nvSpPr>
          <p:cNvPr id="34" name="テキスト プレースホルダー 3"/>
          <p:cNvSpPr>
            <a:spLocks noGrp="1"/>
          </p:cNvSpPr>
          <p:nvPr>
            <p:ph type="body" sz="half" idx="21" hasCustomPrompt="1"/>
          </p:nvPr>
        </p:nvSpPr>
        <p:spPr>
          <a:xfrm>
            <a:off x="5982720" y="3744082"/>
            <a:ext cx="3932237" cy="305312"/>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en-US" altLang="ja-JP" sz="1600" b="0" spc="160" dirty="0">
                <a:solidFill>
                  <a:srgbClr val="545454"/>
                </a:solidFill>
                <a:latin typeface="+mn-lt"/>
                <a:ea typeface="+mn-ea"/>
                <a:cs typeface="Calibri" panose="020F0502020204030204" pitchFamily="34" charset="0"/>
                <a:sym typeface="Roboto Condensed"/>
              </a:rPr>
              <a:t>TITLE</a:t>
            </a:r>
          </a:p>
        </p:txBody>
      </p:sp>
      <p:sp>
        <p:nvSpPr>
          <p:cNvPr id="37" name="テキスト プレースホルダー 3"/>
          <p:cNvSpPr>
            <a:spLocks noGrp="1"/>
          </p:cNvSpPr>
          <p:nvPr>
            <p:ph type="body" sz="half" idx="23" hasCustomPrompt="1"/>
          </p:nvPr>
        </p:nvSpPr>
        <p:spPr>
          <a:xfrm>
            <a:off x="5982720" y="4937812"/>
            <a:ext cx="3932237" cy="305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ja-JP" altLang="en-US" sz="1600" b="0" spc="160" dirty="0">
                <a:solidFill>
                  <a:srgbClr val="545454"/>
                </a:solidFill>
                <a:latin typeface="+mn-lt"/>
                <a:ea typeface="+mn-ea"/>
                <a:cs typeface="Calibri" panose="020F0502020204030204" pitchFamily="34" charset="0"/>
                <a:sym typeface="Roboto Condensed"/>
              </a:rPr>
              <a:t>タイトルを入れてください</a:t>
            </a:r>
          </a:p>
        </p:txBody>
      </p:sp>
      <p:sp>
        <p:nvSpPr>
          <p:cNvPr id="38" name="テキスト プレースホルダー 3"/>
          <p:cNvSpPr>
            <a:spLocks noGrp="1"/>
          </p:cNvSpPr>
          <p:nvPr>
            <p:ph type="body" sz="half" idx="24" hasCustomPrompt="1"/>
          </p:nvPr>
        </p:nvSpPr>
        <p:spPr>
          <a:xfrm>
            <a:off x="5982720" y="4626771"/>
            <a:ext cx="3932237" cy="305312"/>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defRPr/>
            </a:pPr>
            <a:r>
              <a:rPr lang="en-US" altLang="ja-JP" sz="1600" b="0" spc="160" dirty="0">
                <a:solidFill>
                  <a:srgbClr val="545454"/>
                </a:solidFill>
                <a:latin typeface="+mn-lt"/>
                <a:ea typeface="+mn-ea"/>
                <a:cs typeface="Calibri" panose="020F0502020204030204" pitchFamily="34" charset="0"/>
                <a:sym typeface="Roboto Condensed"/>
              </a:rPr>
              <a:t>TITLE</a:t>
            </a:r>
          </a:p>
        </p:txBody>
      </p:sp>
      <p:sp>
        <p:nvSpPr>
          <p:cNvPr id="4" name="Freeform 2">
            <a:extLst>
              <a:ext uri="{FF2B5EF4-FFF2-40B4-BE49-F238E27FC236}">
                <a16:creationId xmlns:a16="http://schemas.microsoft.com/office/drawing/2014/main" id="{EDFAAAA2-38BC-BC09-1922-5DBF22378EE3}"/>
              </a:ext>
            </a:extLst>
          </p:cNvPr>
          <p:cNvSpPr/>
          <p:nvPr userDrawn="1"/>
        </p:nvSpPr>
        <p:spPr>
          <a:xfrm>
            <a:off x="0" y="0"/>
            <a:ext cx="4259079"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cstate="print">
              <a:lum bright="70000" contrast="-70000"/>
              <a:alphaModFix amt="20000"/>
              <a:extLst>
                <a:ext uri="{28A0092B-C50C-407E-A947-70E740481C1C}">
                  <a14:useLocalDpi xmlns:a14="http://schemas.microsoft.com/office/drawing/2010/main" val="0"/>
                </a:ext>
              </a:extLst>
            </a:blip>
            <a:stretch>
              <a:fillRect/>
            </a:stretch>
          </a:blipFill>
        </p:spPr>
        <p:txBody>
          <a:bodyPr/>
          <a:lstStyle/>
          <a:p>
            <a:endParaRPr lang="ja-JP" altLang="en-US"/>
          </a:p>
        </p:txBody>
      </p:sp>
      <p:sp>
        <p:nvSpPr>
          <p:cNvPr id="26" name="TextBox 21"/>
          <p:cNvSpPr txBox="1"/>
          <p:nvPr userDrawn="1"/>
        </p:nvSpPr>
        <p:spPr>
          <a:xfrm>
            <a:off x="549661" y="1301619"/>
            <a:ext cx="3656932" cy="480068"/>
          </a:xfrm>
          <a:prstGeom prst="rect">
            <a:avLst/>
          </a:prstGeom>
        </p:spPr>
        <p:txBody>
          <a:bodyPr wrap="square" lIns="0" tIns="0" rIns="0" bIns="0" rtlCol="0" anchor="t">
            <a:spAutoFit/>
          </a:bodyPr>
          <a:lstStyle/>
          <a:p>
            <a:pPr algn="l">
              <a:lnSpc>
                <a:spcPts val="4110"/>
              </a:lnSpc>
            </a:pPr>
            <a:r>
              <a:rPr lang="ja-JP" altLang="en-US" sz="2400" b="1" spc="256" dirty="0">
                <a:solidFill>
                  <a:srgbClr val="FFFFFF"/>
                </a:solidFill>
                <a:latin typeface="+mj-ea"/>
                <a:ea typeface="+mj-ea"/>
                <a:cs typeface="Noto Sans JP Bold"/>
                <a:sym typeface="Noto Sans JP Bold"/>
              </a:rPr>
              <a:t>研修内容</a:t>
            </a:r>
            <a:endParaRPr lang="en-US" sz="2400" b="1" spc="256" dirty="0">
              <a:solidFill>
                <a:srgbClr val="FFFFFF"/>
              </a:solidFill>
              <a:latin typeface="+mj-ea"/>
              <a:ea typeface="+mj-ea"/>
              <a:cs typeface="Noto Sans JP Bold"/>
              <a:sym typeface="Noto Sans JP Bold"/>
            </a:endParaRPr>
          </a:p>
        </p:txBody>
      </p:sp>
      <p:sp>
        <p:nvSpPr>
          <p:cNvPr id="31" name="TextBox 26"/>
          <p:cNvSpPr txBox="1"/>
          <p:nvPr userDrawn="1"/>
        </p:nvSpPr>
        <p:spPr>
          <a:xfrm>
            <a:off x="549661" y="673485"/>
            <a:ext cx="2444428" cy="634982"/>
          </a:xfrm>
          <a:prstGeom prst="rect">
            <a:avLst/>
          </a:prstGeom>
        </p:spPr>
        <p:txBody>
          <a:bodyPr wrap="square" lIns="0" tIns="0" rIns="0" bIns="0" rtlCol="0" anchor="t">
            <a:spAutoFit/>
          </a:bodyPr>
          <a:lstStyle/>
          <a:p>
            <a:pPr algn="l">
              <a:lnSpc>
                <a:spcPts val="5400"/>
              </a:lnSpc>
            </a:pPr>
            <a:r>
              <a:rPr lang="en-US" sz="3200" b="1" spc="192"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Condensed Bold"/>
              </a:rPr>
              <a:t>OUT LINE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セクション見出し">
    <p:spTree>
      <p:nvGrpSpPr>
        <p:cNvPr id="1" name=""/>
        <p:cNvGrpSpPr/>
        <p:nvPr/>
      </p:nvGrpSpPr>
      <p:grpSpPr>
        <a:xfrm>
          <a:off x="0" y="0"/>
          <a:ext cx="0" cy="0"/>
          <a:chOff x="0" y="0"/>
          <a:chExt cx="0" cy="0"/>
        </a:xfrm>
      </p:grpSpPr>
      <p:grpSp>
        <p:nvGrpSpPr>
          <p:cNvPr id="9" name="Group 2"/>
          <p:cNvGrpSpPr/>
          <p:nvPr userDrawn="1"/>
        </p:nvGrpSpPr>
        <p:grpSpPr>
          <a:xfrm flipV="1">
            <a:off x="632460" y="998771"/>
            <a:ext cx="11082020" cy="45719"/>
            <a:chOff x="0" y="0"/>
            <a:chExt cx="4274726" cy="12555"/>
          </a:xfrm>
        </p:grpSpPr>
        <p:sp>
          <p:nvSpPr>
            <p:cNvPr id="10" name="Freeform 3"/>
            <p:cNvSpPr/>
            <p:nvPr/>
          </p:nvSpPr>
          <p:spPr>
            <a:xfrm>
              <a:off x="0" y="0"/>
              <a:ext cx="4274726" cy="12555"/>
            </a:xfrm>
            <a:custGeom>
              <a:avLst/>
              <a:gdLst/>
              <a:ahLst/>
              <a:cxnLst/>
              <a:rect l="l" t="t" r="r" b="b"/>
              <a:pathLst>
                <a:path w="4274726" h="12555">
                  <a:moveTo>
                    <a:pt x="0" y="0"/>
                  </a:moveTo>
                  <a:lnTo>
                    <a:pt x="4274726" y="0"/>
                  </a:lnTo>
                  <a:lnTo>
                    <a:pt x="4274726" y="12555"/>
                  </a:lnTo>
                  <a:lnTo>
                    <a:pt x="0" y="12555"/>
                  </a:lnTo>
                  <a:close/>
                </a:path>
              </a:pathLst>
            </a:custGeom>
            <a:gradFill rotWithShape="1">
              <a:gsLst>
                <a:gs pos="0">
                  <a:srgbClr val="75D8FF"/>
                </a:gs>
                <a:gs pos="100000">
                  <a:srgbClr val="005EA2"/>
                </a:gs>
              </a:gsLst>
              <a:path path="circle">
                <a:fillToRect r="100000" b="100000"/>
              </a:path>
              <a:tileRect l="-100000" t="-100000"/>
            </a:gradFill>
            <a:ln>
              <a:gradFill>
                <a:gsLst>
                  <a:gs pos="0">
                    <a:srgbClr val="75D8FF"/>
                  </a:gs>
                  <a:gs pos="100000">
                    <a:srgbClr val="005EA2"/>
                  </a:gs>
                </a:gsLst>
                <a:lin ang="21594000" scaled="0"/>
              </a:gradFill>
            </a:ln>
          </p:spPr>
          <p:txBody>
            <a:bodyPr/>
            <a:lstStyle/>
            <a:p>
              <a:endParaRPr lang="ja-JP" altLang="en-US"/>
            </a:p>
          </p:txBody>
        </p:sp>
        <p:sp>
          <p:nvSpPr>
            <p:cNvPr id="11" name="TextBox 4"/>
            <p:cNvSpPr txBox="1"/>
            <p:nvPr/>
          </p:nvSpPr>
          <p:spPr>
            <a:xfrm>
              <a:off x="0" y="-28575"/>
              <a:ext cx="4274726" cy="41130"/>
            </a:xfrm>
            <a:prstGeom prst="rect">
              <a:avLst/>
            </a:prstGeom>
            <a:ln>
              <a:noFill/>
            </a:ln>
          </p:spPr>
          <p:txBody>
            <a:bodyPr lIns="50800" tIns="50800" rIns="50800" bIns="50800" rtlCol="0" anchor="ctr"/>
            <a:lstStyle/>
            <a:p>
              <a:pPr algn="ctr">
                <a:lnSpc>
                  <a:spcPts val="2660"/>
                </a:lnSpc>
              </a:pPr>
              <a:endParaRPr/>
            </a:p>
          </p:txBody>
        </p:sp>
      </p:grpSp>
      <p:sp>
        <p:nvSpPr>
          <p:cNvPr id="13" name="Freeform 40"/>
          <p:cNvSpPr/>
          <p:nvPr userDrawn="1"/>
        </p:nvSpPr>
        <p:spPr>
          <a:xfrm>
            <a:off x="9885680" y="469108"/>
            <a:ext cx="1828800" cy="382659"/>
          </a:xfrm>
          <a:custGeom>
            <a:avLst/>
            <a:gdLst/>
            <a:ahLst/>
            <a:cxnLst/>
            <a:rect l="l" t="t" r="r" b="b"/>
            <a:pathLst>
              <a:path w="2967655" h="620954">
                <a:moveTo>
                  <a:pt x="0" y="0"/>
                </a:moveTo>
                <a:lnTo>
                  <a:pt x="2967655" y="0"/>
                </a:lnTo>
                <a:lnTo>
                  <a:pt x="2967655" y="620954"/>
                </a:lnTo>
                <a:lnTo>
                  <a:pt x="0" y="620954"/>
                </a:lnTo>
                <a:lnTo>
                  <a:pt x="0" y="0"/>
                </a:lnTo>
                <a:close/>
              </a:path>
            </a:pathLst>
          </a:custGeom>
          <a:blipFill>
            <a:blip r:embed="rId2" cstate="print">
              <a:extLst>
                <a:ext uri="{28A0092B-C50C-407E-A947-70E740481C1C}">
                  <a14:useLocalDpi xmlns:a14="http://schemas.microsoft.com/office/drawing/2010/main" val="0"/>
                </a:ext>
              </a:extLst>
            </a:blip>
            <a:stretch>
              <a:fillRect/>
            </a:stretch>
          </a:blipFill>
        </p:spPr>
        <p:txBody>
          <a:bodyPr/>
          <a:lstStyle/>
          <a:p>
            <a:endParaRPr lang="ja-JP" altLang="en-US"/>
          </a:p>
        </p:txBody>
      </p:sp>
      <p:sp>
        <p:nvSpPr>
          <p:cNvPr id="18" name="スライド番号プレースホルダー 5"/>
          <p:cNvSpPr>
            <a:spLocks noGrp="1"/>
          </p:cNvSpPr>
          <p:nvPr>
            <p:ph type="sldNum" sz="quarter" idx="12"/>
          </p:nvPr>
        </p:nvSpPr>
        <p:spPr>
          <a:xfrm>
            <a:off x="8899139" y="6143185"/>
            <a:ext cx="2743200" cy="365125"/>
          </a:xfrm>
        </p:spPr>
        <p:txBody>
          <a:bodyPr/>
          <a:lstStyle>
            <a:lvl1pPr>
              <a:defRPr b="1">
                <a:solidFill>
                  <a:srgbClr val="545454"/>
                </a:solidFill>
              </a:defRPr>
            </a:lvl1pPr>
          </a:lstStyle>
          <a:p>
            <a:fld id="{DB143CDF-71D5-48D5-A8A3-4D2BF5A187F6}" type="slidenum">
              <a:rPr lang="ja-JP" altLang="en-US" smtClean="0"/>
              <a:t>‹#›</a:t>
            </a:fld>
            <a:endParaRPr lang="ja-JP" altLang="en-US" dirty="0"/>
          </a:p>
        </p:txBody>
      </p:sp>
      <p:sp>
        <p:nvSpPr>
          <p:cNvPr id="19" name="タイトル 1"/>
          <p:cNvSpPr>
            <a:spLocks noGrp="1"/>
          </p:cNvSpPr>
          <p:nvPr>
            <p:ph type="title" hasCustomPrompt="1"/>
          </p:nvPr>
        </p:nvSpPr>
        <p:spPr>
          <a:xfrm>
            <a:off x="632460" y="469108"/>
            <a:ext cx="9130376" cy="483943"/>
          </a:xfrm>
        </p:spPr>
        <p:txBody>
          <a:bodyPr/>
          <a:lstStyle>
            <a:lvl1pPr>
              <a:defRPr sz="2400" b="1"/>
            </a:lvl1pPr>
          </a:lstStyle>
          <a:p>
            <a:r>
              <a:rPr kumimoji="1" lang="ja-JP" altLang="en-US" dirty="0"/>
              <a:t>タイトル</a:t>
            </a:r>
          </a:p>
        </p:txBody>
      </p:sp>
      <p:sp>
        <p:nvSpPr>
          <p:cNvPr id="3" name="テキスト ボックス 2"/>
          <p:cNvSpPr txBox="1"/>
          <p:nvPr userDrawn="1"/>
        </p:nvSpPr>
        <p:spPr>
          <a:xfrm>
            <a:off x="549662" y="6231311"/>
            <a:ext cx="199351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1200" b="1" dirty="0">
                <a:solidFill>
                  <a:schemeClr val="tx1"/>
                </a:solidFill>
              </a:rPr>
              <a:t>© 2024 Aspark. Co., Ltd</a:t>
            </a:r>
            <a:endParaRPr lang="ja-JP" altLang="en-US" sz="1200" b="1" dirty="0">
              <a:solidFill>
                <a:schemeClr val="tx1"/>
              </a:solidFill>
            </a:endParaRPr>
          </a:p>
        </p:txBody>
      </p:sp>
    </p:spTree>
    <p:extLst>
      <p:ext uri="{BB962C8B-B14F-4D97-AF65-F5344CB8AC3E}">
        <p14:creationId xmlns:p14="http://schemas.microsoft.com/office/powerpoint/2010/main" val="419062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13" name="Freeform 40"/>
          <p:cNvSpPr/>
          <p:nvPr userDrawn="1"/>
        </p:nvSpPr>
        <p:spPr>
          <a:xfrm>
            <a:off x="9885680" y="469108"/>
            <a:ext cx="1828800" cy="382659"/>
          </a:xfrm>
          <a:custGeom>
            <a:avLst/>
            <a:gdLst/>
            <a:ahLst/>
            <a:cxnLst/>
            <a:rect l="l" t="t" r="r" b="b"/>
            <a:pathLst>
              <a:path w="2967655" h="620954">
                <a:moveTo>
                  <a:pt x="0" y="0"/>
                </a:moveTo>
                <a:lnTo>
                  <a:pt x="2967655" y="0"/>
                </a:lnTo>
                <a:lnTo>
                  <a:pt x="2967655" y="620954"/>
                </a:lnTo>
                <a:lnTo>
                  <a:pt x="0" y="620954"/>
                </a:lnTo>
                <a:lnTo>
                  <a:pt x="0" y="0"/>
                </a:lnTo>
                <a:close/>
              </a:path>
            </a:pathLst>
          </a:custGeom>
          <a:blipFill>
            <a:blip r:embed="rId2" cstate="print">
              <a:extLst>
                <a:ext uri="{28A0092B-C50C-407E-A947-70E740481C1C}">
                  <a14:useLocalDpi xmlns:a14="http://schemas.microsoft.com/office/drawing/2010/main" val="0"/>
                </a:ext>
              </a:extLst>
            </a:blip>
            <a:stretch>
              <a:fillRect/>
            </a:stretch>
          </a:blipFill>
        </p:spPr>
      </p:sp>
      <p:sp>
        <p:nvSpPr>
          <p:cNvPr id="15" name="スライド番号プレースホルダー 5"/>
          <p:cNvSpPr>
            <a:spLocks noGrp="1"/>
          </p:cNvSpPr>
          <p:nvPr>
            <p:ph type="sldNum" sz="quarter" idx="12"/>
          </p:nvPr>
        </p:nvSpPr>
        <p:spPr>
          <a:xfrm>
            <a:off x="8899139" y="6143185"/>
            <a:ext cx="2743200" cy="365125"/>
          </a:xfrm>
        </p:spPr>
        <p:txBody>
          <a:bodyPr/>
          <a:lstStyle>
            <a:lvl1pPr>
              <a:defRPr b="1">
                <a:solidFill>
                  <a:srgbClr val="545454"/>
                </a:solidFill>
              </a:defRPr>
            </a:lvl1pPr>
          </a:lstStyle>
          <a:p>
            <a:fld id="{DB143CDF-71D5-48D5-A8A3-4D2BF5A187F6}" type="slidenum">
              <a:rPr lang="ja-JP" altLang="en-US" smtClean="0"/>
              <a:t>‹#›</a:t>
            </a:fld>
            <a:endParaRPr lang="ja-JP" altLang="en-US" dirty="0"/>
          </a:p>
        </p:txBody>
      </p:sp>
      <p:sp>
        <p:nvSpPr>
          <p:cNvPr id="16" name="タイトル 1"/>
          <p:cNvSpPr>
            <a:spLocks noGrp="1"/>
          </p:cNvSpPr>
          <p:nvPr>
            <p:ph type="title" hasCustomPrompt="1"/>
          </p:nvPr>
        </p:nvSpPr>
        <p:spPr>
          <a:xfrm>
            <a:off x="632460" y="469108"/>
            <a:ext cx="9130376" cy="483943"/>
          </a:xfrm>
        </p:spPr>
        <p:txBody>
          <a:bodyPr/>
          <a:lstStyle>
            <a:lvl1pPr>
              <a:defRPr sz="2400" b="1"/>
            </a:lvl1pPr>
          </a:lstStyle>
          <a:p>
            <a:r>
              <a:rPr kumimoji="1" lang="ja-JP" altLang="en-US" dirty="0"/>
              <a:t>タイトル</a:t>
            </a:r>
          </a:p>
        </p:txBody>
      </p:sp>
      <p:sp>
        <p:nvSpPr>
          <p:cNvPr id="17" name="正方形/長方形 16"/>
          <p:cNvSpPr/>
          <p:nvPr userDrawn="1"/>
        </p:nvSpPr>
        <p:spPr>
          <a:xfrm>
            <a:off x="632460" y="1330036"/>
            <a:ext cx="4902201" cy="452919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Freeform 9"/>
          <p:cNvSpPr/>
          <p:nvPr/>
        </p:nvSpPr>
        <p:spPr>
          <a:xfrm>
            <a:off x="6812279" y="1330035"/>
            <a:ext cx="4902201" cy="4529193"/>
          </a:xfrm>
          <a:custGeom>
            <a:avLst/>
            <a:gdLst/>
            <a:ahLst/>
            <a:cxnLst/>
            <a:rect l="l" t="t" r="r" b="b"/>
            <a:pathLst>
              <a:path w="2248669" h="816970">
                <a:moveTo>
                  <a:pt x="0" y="0"/>
                </a:moveTo>
                <a:lnTo>
                  <a:pt x="2248669" y="0"/>
                </a:lnTo>
                <a:lnTo>
                  <a:pt x="2248669" y="816970"/>
                </a:lnTo>
                <a:lnTo>
                  <a:pt x="0" y="816970"/>
                </a:lnTo>
                <a:close/>
              </a:path>
            </a:pathLst>
          </a:custGeom>
          <a:solidFill>
            <a:srgbClr val="CFE6FC"/>
          </a:solidFill>
        </p:spPr>
      </p:sp>
      <p:sp>
        <p:nvSpPr>
          <p:cNvPr id="21" name="TextBox 10"/>
          <p:cNvSpPr txBox="1"/>
          <p:nvPr/>
        </p:nvSpPr>
        <p:spPr>
          <a:xfrm>
            <a:off x="6812279" y="1171618"/>
            <a:ext cx="4902201" cy="4687610"/>
          </a:xfrm>
          <a:prstGeom prst="rect">
            <a:avLst/>
          </a:prstGeom>
        </p:spPr>
        <p:txBody>
          <a:bodyPr lIns="50800" tIns="50800" rIns="50800" bIns="50800" rtlCol="0" anchor="ctr"/>
          <a:lstStyle/>
          <a:p>
            <a:pPr algn="ctr">
              <a:lnSpc>
                <a:spcPts val="2660"/>
              </a:lnSpc>
            </a:pPr>
            <a:endParaRPr/>
          </a:p>
        </p:txBody>
      </p:sp>
      <p:sp>
        <p:nvSpPr>
          <p:cNvPr id="23" name="Freeform 15"/>
          <p:cNvSpPr/>
          <p:nvPr/>
        </p:nvSpPr>
        <p:spPr>
          <a:xfrm rot="5400000">
            <a:off x="5868526" y="3162174"/>
            <a:ext cx="609887" cy="533651"/>
          </a:xfrm>
          <a:custGeom>
            <a:avLst/>
            <a:gdLst/>
            <a:ahLst/>
            <a:cxnLst/>
            <a:rect l="l" t="t" r="r" b="b"/>
            <a:pathLst>
              <a:path w="812800" h="711200">
                <a:moveTo>
                  <a:pt x="406400" y="0"/>
                </a:moveTo>
                <a:lnTo>
                  <a:pt x="812800" y="711200"/>
                </a:lnTo>
                <a:lnTo>
                  <a:pt x="0" y="711200"/>
                </a:lnTo>
                <a:lnTo>
                  <a:pt x="406400" y="0"/>
                </a:lnTo>
                <a:close/>
              </a:path>
            </a:pathLst>
          </a:custGeom>
          <a:solidFill>
            <a:srgbClr val="0070C0"/>
          </a:solidFill>
        </p:spPr>
      </p:sp>
      <p:sp>
        <p:nvSpPr>
          <p:cNvPr id="27" name="テキスト プレースホルダー 26"/>
          <p:cNvSpPr>
            <a:spLocks noGrp="1"/>
          </p:cNvSpPr>
          <p:nvPr>
            <p:ph type="body" sz="quarter" idx="13"/>
          </p:nvPr>
        </p:nvSpPr>
        <p:spPr>
          <a:xfrm>
            <a:off x="949124" y="2438250"/>
            <a:ext cx="4248351" cy="2314353"/>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8" name="テキスト プレースホルダー 26"/>
          <p:cNvSpPr>
            <a:spLocks noGrp="1"/>
          </p:cNvSpPr>
          <p:nvPr>
            <p:ph type="body" sz="quarter" idx="14"/>
          </p:nvPr>
        </p:nvSpPr>
        <p:spPr>
          <a:xfrm>
            <a:off x="7139203" y="2440762"/>
            <a:ext cx="4248351" cy="231184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9" name="テキスト ボックス 28"/>
          <p:cNvSpPr txBox="1"/>
          <p:nvPr userDrawn="1"/>
        </p:nvSpPr>
        <p:spPr>
          <a:xfrm>
            <a:off x="549662" y="6231311"/>
            <a:ext cx="199351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1200" b="1" dirty="0">
                <a:solidFill>
                  <a:schemeClr val="tx1"/>
                </a:solidFill>
              </a:rPr>
              <a:t>© 2024 Aspark. Co., Ltd</a:t>
            </a:r>
            <a:endParaRPr lang="ja-JP" altLang="en-US" sz="1200" b="1" dirty="0">
              <a:solidFill>
                <a:schemeClr val="tx1"/>
              </a:solidFill>
            </a:endParaRPr>
          </a:p>
        </p:txBody>
      </p:sp>
      <p:sp>
        <p:nvSpPr>
          <p:cNvPr id="2" name="正方形/長方形 1">
            <a:extLst>
              <a:ext uri="{FF2B5EF4-FFF2-40B4-BE49-F238E27FC236}">
                <a16:creationId xmlns:a16="http://schemas.microsoft.com/office/drawing/2014/main" id="{41A576BC-F7F2-43EC-7912-AA06E0DBCDEB}"/>
              </a:ext>
            </a:extLst>
          </p:cNvPr>
          <p:cNvSpPr/>
          <p:nvPr userDrawn="1"/>
        </p:nvSpPr>
        <p:spPr>
          <a:xfrm>
            <a:off x="632460" y="1330035"/>
            <a:ext cx="4902201" cy="626583"/>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7807F5E7-BED4-EA4B-DEA0-803EBE72B795}"/>
              </a:ext>
            </a:extLst>
          </p:cNvPr>
          <p:cNvSpPr/>
          <p:nvPr userDrawn="1"/>
        </p:nvSpPr>
        <p:spPr>
          <a:xfrm>
            <a:off x="6812279" y="1330035"/>
            <a:ext cx="4902201" cy="626583"/>
          </a:xfrm>
          <a:prstGeom prst="rect">
            <a:avLst/>
          </a:prstGeom>
          <a:gradFill>
            <a:gsLst>
              <a:gs pos="0">
                <a:srgbClr val="17A7FF"/>
              </a:gs>
              <a:gs pos="95000">
                <a:srgbClr val="0063AB"/>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のみ">
    <p:bg>
      <p:bgPr>
        <a:gradFill flip="none" rotWithShape="1">
          <a:gsLst>
            <a:gs pos="0">
              <a:srgbClr val="17A7FF"/>
            </a:gs>
            <a:gs pos="95000">
              <a:srgbClr val="0063AB"/>
            </a:gs>
          </a:gsLst>
          <a:lin ang="21594000" scaled="0"/>
          <a:tileRect/>
        </a:gra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B2010F49-9E73-0613-01E3-A42465F042DB}"/>
              </a:ext>
            </a:extLst>
          </p:cNvPr>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cstate="print">
              <a:lum bright="70000" contrast="-70000"/>
              <a:alphaModFix amt="20000"/>
              <a:extLst>
                <a:ext uri="{28A0092B-C50C-407E-A947-70E740481C1C}">
                  <a14:useLocalDpi xmlns:a14="http://schemas.microsoft.com/office/drawing/2010/main" val="0"/>
                </a:ext>
              </a:extLst>
            </a:blip>
            <a:stretch>
              <a:fillRect/>
            </a:stretch>
          </a:blipFill>
        </p:spPr>
        <p:txBody>
          <a:bodyPr/>
          <a:lstStyle/>
          <a:p>
            <a:endParaRPr lang="ja-JP" altLang="en-US"/>
          </a:p>
        </p:txBody>
      </p:sp>
      <p:sp>
        <p:nvSpPr>
          <p:cNvPr id="7" name="正方形/長方形 6">
            <a:extLst>
              <a:ext uri="{FF2B5EF4-FFF2-40B4-BE49-F238E27FC236}">
                <a16:creationId xmlns:a16="http://schemas.microsoft.com/office/drawing/2014/main" id="{1B51CD5C-DEF3-0CF7-35DA-665B87B28DB2}"/>
              </a:ext>
            </a:extLst>
          </p:cNvPr>
          <p:cNvSpPr/>
          <p:nvPr userDrawn="1"/>
        </p:nvSpPr>
        <p:spPr>
          <a:xfrm>
            <a:off x="398206" y="412955"/>
            <a:ext cx="11356259" cy="5766620"/>
          </a:xfrm>
          <a:prstGeom prst="rect">
            <a:avLst/>
          </a:prstGeom>
          <a:solidFill>
            <a:schemeClr val="bg1">
              <a:alpha val="80000"/>
            </a:schemeClr>
          </a:solidFill>
          <a:ln>
            <a:noFill/>
          </a:ln>
          <a:effectLst>
            <a:glow rad="317500">
              <a:srgbClr val="005EA2">
                <a:alpha val="2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sp>
        <p:nvSpPr>
          <p:cNvPr id="9" name="TextBox 5"/>
          <p:cNvSpPr txBox="1"/>
          <p:nvPr userDrawn="1"/>
        </p:nvSpPr>
        <p:spPr>
          <a:xfrm>
            <a:off x="1527257" y="1701017"/>
            <a:ext cx="9137486" cy="1758751"/>
          </a:xfrm>
          <a:prstGeom prst="rect">
            <a:avLst/>
          </a:prstGeom>
        </p:spPr>
        <p:txBody>
          <a:bodyPr wrap="square" lIns="0" tIns="0" rIns="0" bIns="0" rtlCol="0" anchor="t">
            <a:spAutoFit/>
          </a:bodyPr>
          <a:lstStyle/>
          <a:p>
            <a:pPr algn="ctr">
              <a:lnSpc>
                <a:spcPct val="150000"/>
              </a:lnSpc>
            </a:pPr>
            <a:r>
              <a:rPr lang="en-US" sz="4000" b="1" spc="600" dirty="0" err="1">
                <a:solidFill>
                  <a:schemeClr val="tx1">
                    <a:lumMod val="75000"/>
                  </a:schemeClr>
                </a:solidFill>
                <a:latin typeface="+mj-ea"/>
                <a:ea typeface="+mj-ea"/>
                <a:cs typeface="Noto Sans JP Bold"/>
                <a:sym typeface="Noto Sans JP Bold"/>
              </a:rPr>
              <a:t>ご清聴いただき</a:t>
            </a:r>
            <a:endParaRPr lang="en-US" sz="4000" b="1" spc="600" dirty="0">
              <a:solidFill>
                <a:schemeClr val="tx1">
                  <a:lumMod val="75000"/>
                </a:schemeClr>
              </a:solidFill>
              <a:latin typeface="+mj-ea"/>
              <a:ea typeface="+mj-ea"/>
              <a:cs typeface="Noto Sans JP Bold"/>
              <a:sym typeface="Noto Sans JP Bold"/>
            </a:endParaRPr>
          </a:p>
          <a:p>
            <a:pPr algn="ctr">
              <a:lnSpc>
                <a:spcPct val="150000"/>
              </a:lnSpc>
            </a:pPr>
            <a:r>
              <a:rPr lang="en-US" sz="4000" b="1" spc="600" dirty="0" err="1">
                <a:solidFill>
                  <a:schemeClr val="tx1">
                    <a:lumMod val="75000"/>
                  </a:schemeClr>
                </a:solidFill>
                <a:latin typeface="+mj-ea"/>
                <a:ea typeface="+mj-ea"/>
                <a:cs typeface="Noto Sans JP Bold"/>
                <a:sym typeface="Noto Sans JP Bold"/>
              </a:rPr>
              <a:t>ありがとうございました</a:t>
            </a:r>
            <a:endParaRPr lang="en-US" sz="4000" b="1" spc="600" dirty="0">
              <a:solidFill>
                <a:schemeClr val="tx1">
                  <a:lumMod val="75000"/>
                </a:schemeClr>
              </a:solidFill>
              <a:latin typeface="+mj-ea"/>
              <a:ea typeface="+mj-ea"/>
              <a:cs typeface="Noto Sans JP Bold"/>
              <a:sym typeface="Noto Sans JP Bold"/>
            </a:endParaRPr>
          </a:p>
        </p:txBody>
      </p:sp>
      <p:sp>
        <p:nvSpPr>
          <p:cNvPr id="10" name="TextBox 6"/>
          <p:cNvSpPr txBox="1"/>
          <p:nvPr userDrawn="1"/>
        </p:nvSpPr>
        <p:spPr>
          <a:xfrm>
            <a:off x="2171137" y="3702468"/>
            <a:ext cx="7849725" cy="1056251"/>
          </a:xfrm>
          <a:prstGeom prst="rect">
            <a:avLst/>
          </a:prstGeom>
        </p:spPr>
        <p:txBody>
          <a:bodyPr wrap="square" lIns="0" tIns="0" rIns="0" bIns="0" rtlCol="0" anchor="t">
            <a:spAutoFit/>
          </a:bodyPr>
          <a:lstStyle/>
          <a:p>
            <a:pPr algn="ctr">
              <a:lnSpc>
                <a:spcPct val="150000"/>
              </a:lnSpc>
            </a:pPr>
            <a:r>
              <a:rPr lang="en-US" sz="2400" b="1" spc="1097" dirty="0" err="1">
                <a:solidFill>
                  <a:schemeClr val="tx1">
                    <a:lumMod val="75000"/>
                  </a:schemeClr>
                </a:solidFill>
                <a:latin typeface="+mn-ea"/>
                <a:ea typeface="+mn-ea"/>
                <a:cs typeface="Noto Sans JP Bold"/>
                <a:sym typeface="Noto Sans JP Bold"/>
              </a:rPr>
              <a:t>これから一緒にアスパークを</a:t>
            </a:r>
            <a:endParaRPr lang="en-US" sz="2400" b="1" spc="1097" dirty="0">
              <a:solidFill>
                <a:schemeClr val="tx1">
                  <a:lumMod val="75000"/>
                </a:schemeClr>
              </a:solidFill>
              <a:latin typeface="+mn-ea"/>
              <a:ea typeface="+mn-ea"/>
              <a:cs typeface="Noto Sans JP Bold"/>
              <a:sym typeface="Noto Sans JP Bold"/>
            </a:endParaRPr>
          </a:p>
          <a:p>
            <a:pPr algn="ctr">
              <a:lnSpc>
                <a:spcPct val="150000"/>
              </a:lnSpc>
            </a:pPr>
            <a:r>
              <a:rPr lang="en-US" sz="2400" b="1" spc="1097" dirty="0" err="1">
                <a:solidFill>
                  <a:schemeClr val="tx1">
                    <a:lumMod val="75000"/>
                  </a:schemeClr>
                </a:solidFill>
                <a:latin typeface="+mn-ea"/>
                <a:ea typeface="+mn-ea"/>
                <a:cs typeface="Noto Sans JP Bold"/>
                <a:sym typeface="Noto Sans JP Bold"/>
              </a:rPr>
              <a:t>盛り上げていきましょう</a:t>
            </a:r>
            <a:r>
              <a:rPr lang="en-US" sz="2400" b="1" spc="1097" dirty="0">
                <a:solidFill>
                  <a:schemeClr val="tx1">
                    <a:lumMod val="75000"/>
                  </a:schemeClr>
                </a:solidFill>
                <a:latin typeface="+mn-ea"/>
                <a:ea typeface="+mn-ea"/>
                <a:cs typeface="Noto Sans JP Bold"/>
                <a:sym typeface="Noto Sans JP Bold"/>
              </a:rPr>
              <a:t>！</a:t>
            </a:r>
          </a:p>
        </p:txBody>
      </p:sp>
      <p:sp>
        <p:nvSpPr>
          <p:cNvPr id="4" name="テキスト プレースホルダー 9">
            <a:extLst>
              <a:ext uri="{FF2B5EF4-FFF2-40B4-BE49-F238E27FC236}">
                <a16:creationId xmlns:a16="http://schemas.microsoft.com/office/drawing/2014/main" id="{12E203D1-196D-D5FD-7352-7E6FD4A6A544}"/>
              </a:ext>
            </a:extLst>
          </p:cNvPr>
          <p:cNvSpPr>
            <a:spLocks noGrp="1"/>
          </p:cNvSpPr>
          <p:nvPr>
            <p:ph type="body" sz="quarter" idx="13" hasCustomPrompt="1"/>
          </p:nvPr>
        </p:nvSpPr>
        <p:spPr>
          <a:xfrm>
            <a:off x="542423" y="6426882"/>
            <a:ext cx="2828925" cy="224060"/>
          </a:xfrm>
        </p:spPr>
        <p:txBody>
          <a:bodyPr>
            <a:noAutofit/>
          </a:bodyPr>
          <a:lstStyle>
            <a:lvl1pPr marL="0" indent="0">
              <a:buNone/>
              <a:defRPr sz="1200" b="1">
                <a:solidFill>
                  <a:schemeClr val="bg1"/>
                </a:solidFill>
              </a:defRPr>
            </a:lvl1pPr>
          </a:lstStyle>
          <a:p>
            <a:r>
              <a:rPr lang="ja-JP" altLang="en-US" dirty="0"/>
              <a:t>改定日</a:t>
            </a:r>
            <a:r>
              <a:rPr lang="ja-JP" altLang="en-US"/>
              <a:t>：</a:t>
            </a:r>
            <a:r>
              <a:rPr lang="en-US" altLang="ja-JP" dirty="0"/>
              <a:t>2026</a:t>
            </a:r>
            <a:r>
              <a:rPr lang="ja-JP" altLang="en-US"/>
              <a:t>年</a:t>
            </a:r>
            <a:r>
              <a:rPr lang="en-US" altLang="ja-JP" dirty="0"/>
              <a:t>1</a:t>
            </a:r>
            <a:r>
              <a:rPr lang="ja-JP" altLang="en-US"/>
              <a:t>月</a:t>
            </a:r>
            <a:r>
              <a:rPr lang="en-US" altLang="ja-JP" dirty="0"/>
              <a:t>24</a:t>
            </a:r>
            <a:r>
              <a:rPr lang="ja-JP" altLang="en-US"/>
              <a:t>日</a:t>
            </a:r>
            <a:endParaRPr lang="ja-JP" altLang="en-US" dirty="0"/>
          </a:p>
        </p:txBody>
      </p:sp>
      <p:sp>
        <p:nvSpPr>
          <p:cNvPr id="5" name="テキスト ボックス 4">
            <a:extLst>
              <a:ext uri="{FF2B5EF4-FFF2-40B4-BE49-F238E27FC236}">
                <a16:creationId xmlns:a16="http://schemas.microsoft.com/office/drawing/2014/main" id="{FDD04B9F-4D7C-A592-BAE5-3EE94B18B46E}"/>
              </a:ext>
            </a:extLst>
          </p:cNvPr>
          <p:cNvSpPr txBox="1"/>
          <p:nvPr userDrawn="1"/>
        </p:nvSpPr>
        <p:spPr>
          <a:xfrm>
            <a:off x="4681538" y="6373943"/>
            <a:ext cx="282892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200" b="1" dirty="0">
                <a:solidFill>
                  <a:schemeClr val="bg1"/>
                </a:solidFill>
              </a:rPr>
              <a:t>© 2024 Aspark. Co., Ltd</a:t>
            </a:r>
            <a:endParaRPr lang="ja-JP" altLang="en-US" sz="1200" b="1" dirty="0">
              <a:solidFill>
                <a:schemeClr val="bg1"/>
              </a:solidFill>
            </a:endParaRPr>
          </a:p>
        </p:txBody>
      </p:sp>
      <p:sp>
        <p:nvSpPr>
          <p:cNvPr id="28" name="テキスト プレースホルダー 9">
            <a:extLst>
              <a:ext uri="{FF2B5EF4-FFF2-40B4-BE49-F238E27FC236}">
                <a16:creationId xmlns:a16="http://schemas.microsoft.com/office/drawing/2014/main" id="{90287B27-4F3C-0E6C-74A8-BC35BB7CE501}"/>
              </a:ext>
            </a:extLst>
          </p:cNvPr>
          <p:cNvSpPr>
            <a:spLocks noGrp="1"/>
          </p:cNvSpPr>
          <p:nvPr>
            <p:ph type="body" sz="quarter" idx="14" hasCustomPrompt="1"/>
          </p:nvPr>
        </p:nvSpPr>
        <p:spPr>
          <a:xfrm>
            <a:off x="8820653" y="6400412"/>
            <a:ext cx="2828925" cy="224060"/>
          </a:xfrm>
        </p:spPr>
        <p:txBody>
          <a:bodyPr>
            <a:noAutofit/>
          </a:bodyPr>
          <a:lstStyle>
            <a:lvl1pPr marL="0" indent="0" algn="r">
              <a:buNone/>
              <a:defRPr sz="1200" b="1">
                <a:solidFill>
                  <a:schemeClr val="bg1"/>
                </a:solidFill>
              </a:defRPr>
            </a:lvl1pPr>
          </a:lstStyle>
          <a:p>
            <a:r>
              <a:rPr lang="en-US" altLang="ja-JP" dirty="0"/>
              <a:t>1</a:t>
            </a:r>
            <a:endParaRPr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143CDF-71D5-48D5-A8A3-4D2BF5A187F6}" type="slidenum">
              <a:rPr kumimoji="1" lang="ja-JP" altLang="en-US" smtClean="0"/>
              <a:t>‹#›</a:t>
            </a:fld>
            <a:endParaRPr kumimoji="1" lang="ja-JP" altLang="en-US" dirty="0"/>
          </a:p>
        </p:txBody>
      </p:sp>
    </p:spTree>
  </p:cSld>
  <p:clrMap bg1="lt1" tx1="dk1" bg2="lt2" tx2="dk2" accent1="accent1" accent2="accent2" accent3="accent3" accent4="accent4" accent5="accent5" accent6="accent6" hlink="hlink" folHlink="folHlink"/>
  <p:sldLayoutIdLst>
    <p:sldLayoutId id="2147483652" r:id="rId1"/>
    <p:sldLayoutId id="2147483649" r:id="rId2"/>
    <p:sldLayoutId id="2147483650" r:id="rId3"/>
    <p:sldLayoutId id="2147483655" r:id="rId4"/>
    <p:sldLayoutId id="2147483653" r:id="rId5"/>
    <p:sldLayoutId id="2147483654" r:id="rId6"/>
  </p:sldLayoutIdLst>
  <p:hf hdr="0" ftr="0" dt="0"/>
  <p:txStyles>
    <p:titleStyle>
      <a:lvl1pPr indent="-230505" algn="l" defTabSz="914400" rtl="0" eaLnBrk="1" latinLnBrk="0" hangingPunct="1">
        <a:lnSpc>
          <a:spcPct val="120000"/>
        </a:lnSpc>
        <a:spcBef>
          <a:spcPts val="60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2800" b="1">
                <a:solidFill>
                  <a:srgbClr val="003366"/>
                </a:solidFill>
                <a:latin typeface="メイリオ"/>
              </a:defRPr>
            </a:pPr>
            <a:r>
              <a:t>成果報告_9月</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a:pPr algn="r">
              <a:defRPr sz="1400" b="1">
                <a:solidFill>
                  <a:srgbClr val="333333"/>
                </a:solidFill>
                <a:latin typeface="メイリオ"/>
              </a:defRPr>
            </a:pPr>
            <a:r>
              <a:t>所属：エンジニアリング事業部</a:t>
            </a:r>
          </a:p>
          <a:p>
            <a:pPr algn="r">
              <a:defRPr sz="1400" b="1">
                <a:solidFill>
                  <a:srgbClr val="333333"/>
                </a:solidFill>
                <a:latin typeface="メイリオ"/>
              </a:defRPr>
            </a:pPr>
            <a:r>
              <a:t>氏名：末永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エグゼクティブ・サマリー（主要成果とストーリー）</a:t>
            </a:r>
          </a:p>
        </p:txBody>
      </p:sp>
      <p:sp>
        <p:nvSpPr>
          <p:cNvPr id="3" name="TextBox 2"/>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2</a:t>
            </a:r>
          </a:p>
        </p:txBody>
      </p:sp>
      <p:sp>
        <p:nvSpPr>
          <p:cNvPr id="4" name="Rounded Rectangle 3"/>
          <p:cNvSpPr/>
          <p:nvPr/>
        </p:nvSpPr>
        <p:spPr>
          <a:xfrm>
            <a:off x="731520" y="1371600"/>
            <a:ext cx="10789920" cy="2103120"/>
          </a:xfrm>
          <a:prstGeom prst="roundRect">
            <a:avLst/>
          </a:prstGeom>
          <a:solidFill>
            <a:srgbClr val="F8F9FA"/>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spcAft>
                <a:spcPts val="600"/>
              </a:spcAft>
              <a:defRPr b="1" sz="1200">
                <a:solidFill>
                  <a:srgbClr val="003366"/>
                </a:solidFill>
                <a:latin typeface="メイリオ"/>
              </a:defRPr>
            </a:pPr>
            <a:r>
              <a:t>■ 定量成果・要約（3点）</a:t>
            </a:r>
          </a:p>
          <a:p>
            <a:pPr>
              <a:lnSpc>
                <a:spcPct val="115000"/>
              </a:lnSpc>
              <a:spcAft>
                <a:spcPts val="300"/>
              </a:spcAft>
            </a:pPr>
            <a:r>
              <a:rPr sz="950">
                <a:solidFill>
                  <a:srgbClr val="333333"/>
                </a:solidFill>
                <a:latin typeface="メイリオ"/>
              </a:rPr>
              <a:t>・ </a:t>
            </a:r>
            <a:r>
              <a:rPr sz="950" b="1">
                <a:solidFill>
                  <a:srgbClr val="333333"/>
                </a:solidFill>
                <a:latin typeface="メイリオ"/>
              </a:rPr>
              <a:t>Excelパーサー補完（結合セル前方補完・数式値フォールバック・可変長境界制御）の導入により、不整形なユーザー入力データに対する堅牢性が飛躍的に向上した。</a:t>
            </a:r>
          </a:p>
          <a:p>
            <a:pPr>
              <a:lnSpc>
                <a:spcPct val="115000"/>
              </a:lnSpc>
              <a:spcAft>
                <a:spcPts val="300"/>
              </a:spcAft>
            </a:pPr>
            <a:r>
              <a:rPr sz="950">
                <a:solidFill>
                  <a:srgbClr val="333333"/>
                </a:solidFill>
                <a:latin typeface="メイリオ"/>
              </a:rPr>
              <a:t>・ </a:t>
            </a:r>
            <a:r>
              <a:rPr sz="950" b="1">
                <a:solidFill>
                  <a:srgbClr val="333333"/>
                </a:solidFill>
                <a:latin typeface="メイリオ"/>
              </a:rPr>
              <a:t>Gemini APIとPydanticを組み合わせたStructured Outputsにより、LLMの出力フォーマット揺らぎを完全に排除し、型安全なデータ連携を実現できた。</a:t>
            </a:r>
          </a:p>
          <a:p>
            <a:pPr>
              <a:lnSpc>
                <a:spcPct val="115000"/>
              </a:lnSpc>
              <a:spcAft>
                <a:spcPts val="300"/>
              </a:spcAft>
            </a:pPr>
            <a:r>
              <a:rPr sz="950">
                <a:solidFill>
                  <a:srgbClr val="333333"/>
                </a:solidFill>
                <a:latin typeface="メイリオ"/>
              </a:rPr>
              <a:t>・ </a:t>
            </a:r>
            <a:r>
              <a:rPr sz="950" b="1">
                <a:solidFill>
                  <a:srgbClr val="333333"/>
                </a:solidFill>
                <a:latin typeface="メイリオ"/>
              </a:rPr>
              <a:t>FastAPIの非同期処理（async/await）およびBackgroundTasksの活用により、退勤時の大量リクエスト集中（スパイク）に対して遅延なく200 OK応答を返すスケーラブルなWebhook基盤を構築できた。</a:t>
            </a:r>
          </a:p>
        </p:txBody>
      </p:sp>
      <p:sp>
        <p:nvSpPr>
          <p:cNvPr id="5" name="Rounded Rectangle 4"/>
          <p:cNvSpPr/>
          <p:nvPr/>
        </p:nvSpPr>
        <p:spPr>
          <a:xfrm>
            <a:off x="731520" y="3657600"/>
            <a:ext cx="10789920" cy="2377440"/>
          </a:xfrm>
          <a:prstGeom prst="roundRect">
            <a:avLst/>
          </a:prstGeom>
          <a:solidFill>
            <a:srgbClr val="EBF3FA"/>
          </a:solidFill>
          <a:ln>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spcAft>
                <a:spcPts val="600"/>
              </a:spcAft>
              <a:defRPr b="1" sz="1200">
                <a:solidFill>
                  <a:srgbClr val="003366"/>
                </a:solidFill>
                <a:latin typeface="メイリオ"/>
              </a:defRPr>
            </a:pPr>
            <a:r>
              <a:t>■ プロジェクト推進ストーリー</a:t>
            </a:r>
          </a:p>
          <a:p>
            <a:pPr>
              <a:lnSpc>
                <a:spcPct val="115000"/>
              </a:lnSpc>
              <a:spcAft>
                <a:spcPts val="300"/>
              </a:spcAft>
            </a:pPr>
            <a:r>
              <a:rPr sz="900">
                <a:solidFill>
                  <a:srgbClr val="333333"/>
                </a:solidFill>
                <a:latin typeface="メイリオ"/>
              </a:rPr>
              <a:t>・ </a:t>
            </a:r>
            <a:r>
              <a:rPr sz="900" b="0">
                <a:solidFill>
                  <a:srgbClr val="333333"/>
                </a:solidFill>
                <a:latin typeface="メイリオ"/>
              </a:rPr>
              <a:t>9月度の活動として、Pythonプログラミング研修（独学プログラマーを用いた基礎から制御構文・文字列操作・ループまでの修得）と、エクセルデータからPowerPoint（.pptx）ドキュメントおよび構造化JSONを自動生成する社内DXツールのコアエンジン開発を並行して推進しました。</a:t>
            </a:r>
          </a:p>
          <a:p>
            <a:pPr>
              <a:lnSpc>
                <a:spcPct val="115000"/>
              </a:lnSpc>
              <a:spcAft>
                <a:spcPts val="300"/>
              </a:spcAft>
            </a:pPr>
            <a:r>
              <a:rPr sz="900">
                <a:solidFill>
                  <a:srgbClr val="333333"/>
                </a:solidFill>
                <a:latin typeface="メイリオ"/>
              </a:rPr>
              <a:t>・ </a:t>
            </a:r>
            <a:r>
              <a:rPr sz="900" b="0">
                <a:solidFill>
                  <a:srgbClr val="333333"/>
                </a:solidFill>
                <a:latin typeface="メイリオ"/>
              </a:rPr>
              <a:t>さらに、LINE WORKS Webhookを活用した非同期API基盤の開発や、Excelパーサーの堅牢化（結合セル補完、数式値取得等）、Gemini APIとPydanticを組み合わせた構造化出力の実装を完了させました。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【自己学習】 Pythonプログラミング研修（第1章～第3章）</a:t>
            </a:r>
          </a:p>
        </p:txBody>
      </p:sp>
      <p:sp>
        <p:nvSpPr>
          <p:cNvPr id="3" name="Rounded Rectangle 2"/>
          <p:cNvSpPr/>
          <p:nvPr/>
        </p:nvSpPr>
        <p:spPr>
          <a:xfrm>
            <a:off x="731520" y="1280160"/>
            <a:ext cx="10789920" cy="411480"/>
          </a:xfrm>
          <a:prstGeom prst="roundRect">
            <a:avLst/>
          </a:prstGeom>
          <a:solidFill>
            <a:srgbClr val="FEF9E7"/>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3366"/>
                </a:solidFill>
                <a:latin typeface="メイリオ"/>
              </a:defRPr>
            </a:pPr>
            <a:r>
              <a:t>💡 アピールポイント ｜ 参照テキスト/サイト：独学プログラマー Python言語の基本から仕事のやり方まで（第1章〜第3章全章修得 / 累積20時間完了）</a:t>
            </a:r>
          </a:p>
        </p:txBody>
      </p:sp>
      <p:sp>
        <p:nvSpPr>
          <p:cNvPr id="4" name="Rounded Rectangle 3"/>
          <p:cNvSpPr/>
          <p:nvPr/>
        </p:nvSpPr>
        <p:spPr>
          <a:xfrm>
            <a:off x="731520" y="1783080"/>
            <a:ext cx="5303520" cy="2057400"/>
          </a:xfrm>
          <a:prstGeom prst="roundRect">
            <a:avLst/>
          </a:prstGeom>
          <a:solidFill>
            <a:srgbClr val="F8F9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Pythonの基本構文、データ型（int, float, str, bool, NoneType）、変数命名規則、算術・比較・論理演算子の挙動を網羅的に学習し、対話シェル上での動作確認を完了した。</a:t>
            </a:r>
          </a:p>
        </p:txBody>
      </p:sp>
      <p:sp>
        <p:nvSpPr>
          <p:cNvPr id="5" name="Rounded Rectangle 4"/>
          <p:cNvSpPr/>
          <p:nvPr/>
        </p:nvSpPr>
        <p:spPr>
          <a:xfrm>
            <a:off x="731520" y="1783080"/>
            <a:ext cx="530352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成果（事実 / 定量データ）</a:t>
            </a:r>
          </a:p>
        </p:txBody>
      </p:sp>
      <p:sp>
        <p:nvSpPr>
          <p:cNvPr id="6" name="Rounded Rectangle 5"/>
          <p:cNvSpPr/>
          <p:nvPr/>
        </p:nvSpPr>
        <p:spPr>
          <a:xfrm>
            <a:off x="6217920" y="1783080"/>
            <a:ext cx="5303520" cy="20574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プログラミングの基礎概念を確実にしたことで、今後の自動化スクリプトやツール開発におけるコードリーディングとデバッグの効率が大幅に向上した。</a:t>
            </a:r>
          </a:p>
        </p:txBody>
      </p:sp>
      <p:sp>
        <p:nvSpPr>
          <p:cNvPr id="7" name="Rounded Rectangle 6"/>
          <p:cNvSpPr/>
          <p:nvPr/>
        </p:nvSpPr>
        <p:spPr>
          <a:xfrm>
            <a:off x="6217920" y="1783080"/>
            <a:ext cx="5303520" cy="34747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評価（ビジネス価値）</a:t>
            </a:r>
          </a:p>
        </p:txBody>
      </p:sp>
      <p:sp>
        <p:nvSpPr>
          <p:cNvPr id="8" name="Rounded Rectangle 7"/>
          <p:cNvSpPr/>
          <p:nvPr/>
        </p:nvSpPr>
        <p:spPr>
          <a:xfrm>
            <a:off x="731520" y="3977640"/>
            <a:ext cx="5303520" cy="2057400"/>
          </a:xfrm>
          <a:prstGeom prst="roundRect">
            <a:avLst/>
          </a:prstGeom>
          <a:solidFill>
            <a:srgbClr val="F8F9FA"/>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【技術適用】インデントの厳密性や条件文（if/elif/else）における複合文の節構造の理解において、構文エラーを防ぐための厳格なコーディング規律の維持が求められる。</a:t>
            </a:r>
          </a:p>
        </p:txBody>
      </p:sp>
      <p:sp>
        <p:nvSpPr>
          <p:cNvPr id="9" name="Rounded Rectangle 8"/>
          <p:cNvSpPr/>
          <p:nvPr/>
        </p:nvSpPr>
        <p:spPr>
          <a:xfrm>
            <a:off x="731520" y="3977640"/>
            <a:ext cx="5303520" cy="347472"/>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課題（ボトルネック）</a:t>
            </a:r>
          </a:p>
        </p:txBody>
      </p:sp>
      <p:sp>
        <p:nvSpPr>
          <p:cNvPr id="10" name="Rounded Rectangle 9"/>
          <p:cNvSpPr/>
          <p:nvPr/>
        </p:nvSpPr>
        <p:spPr>
          <a:xfrm>
            <a:off x="6217920" y="3977640"/>
            <a:ext cx="5303520" cy="20574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1">
                <a:solidFill>
                  <a:srgbClr val="2980B9"/>
                </a:solidFill>
                <a:latin typeface="メイリオ"/>
              </a:rPr>
              <a:t>【対応中】 </a:t>
            </a:r>
            <a:r>
              <a:rPr sz="850" b="0">
                <a:solidFill>
                  <a:srgbClr val="333333"/>
                </a:solidFill>
                <a:latin typeface="メイリオ"/>
              </a:rPr>
              <a:t>学んだ基礎知識をベースに、より高度な関数定義や例外処理、例外キャッチの実装演習へステップアップする。</a:t>
            </a:r>
          </a:p>
          <a:p>
            <a:pPr>
              <a:lnSpc>
                <a:spcPct val="115000"/>
              </a:lnSpc>
              <a:spcAft>
                <a:spcPts val="300"/>
              </a:spcAft>
            </a:pPr>
            <a:r>
              <a:rPr sz="850">
                <a:solidFill>
                  <a:srgbClr val="333333"/>
                </a:solidFill>
                <a:latin typeface="メイリオ"/>
              </a:rPr>
              <a:t>・ </a:t>
            </a:r>
            <a:r>
              <a:rPr sz="850" b="0">
                <a:solidFill>
                  <a:srgbClr val="333333"/>
                </a:solidFill>
                <a:latin typeface="メイリオ"/>
              </a:rPr>
              <a:t>関数定義とスコープに関する演習問題の実施</a:t>
            </a:r>
          </a:p>
          <a:p>
            <a:pPr>
              <a:lnSpc>
                <a:spcPct val="115000"/>
              </a:lnSpc>
              <a:spcAft>
                <a:spcPts val="300"/>
              </a:spcAft>
            </a:pPr>
            <a:r>
              <a:rPr sz="850">
                <a:solidFill>
                  <a:srgbClr val="333333"/>
                </a:solidFill>
                <a:latin typeface="メイリオ"/>
              </a:rPr>
              <a:t>・ </a:t>
            </a:r>
            <a:r>
              <a:rPr sz="850" b="0">
                <a:solidFill>
                  <a:srgbClr val="333333"/>
                </a:solidFill>
                <a:latin typeface="メイリオ"/>
              </a:rPr>
              <a:t>例外処理（try-except）のコード実装</a:t>
            </a:r>
          </a:p>
        </p:txBody>
      </p:sp>
      <p:sp>
        <p:nvSpPr>
          <p:cNvPr id="11" name="Rounded Rectangle 10"/>
          <p:cNvSpPr/>
          <p:nvPr/>
        </p:nvSpPr>
        <p:spPr>
          <a:xfrm>
            <a:off x="6217920" y="3977640"/>
            <a:ext cx="5303520" cy="34747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次の一手（具体的対策）</a:t>
            </a:r>
          </a:p>
        </p:txBody>
      </p:sp>
      <p:sp>
        <p:nvSpPr>
          <p:cNvPr id="12" name="TextBox 11"/>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【自己学習】 Pythonプログラミング研修（第3章～第5章）</a:t>
            </a:r>
          </a:p>
        </p:txBody>
      </p:sp>
      <p:sp>
        <p:nvSpPr>
          <p:cNvPr id="3" name="Rounded Rectangle 2"/>
          <p:cNvSpPr/>
          <p:nvPr/>
        </p:nvSpPr>
        <p:spPr>
          <a:xfrm>
            <a:off x="731520" y="1280160"/>
            <a:ext cx="10789920" cy="411480"/>
          </a:xfrm>
          <a:prstGeom prst="roundRect">
            <a:avLst/>
          </a:prstGeom>
          <a:solidFill>
            <a:srgbClr val="FEF9E7"/>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3366"/>
                </a:solidFill>
                <a:latin typeface="メイリオ"/>
              </a:defRPr>
            </a:pPr>
            <a:r>
              <a:t>💡 アピールポイント ｜ 参照テキスト/サイト：独学プログラマー Python言語の基本から仕事のやり方まで（第3章〜第5章全章修得 / 累積30時間完了）</a:t>
            </a:r>
          </a:p>
        </p:txBody>
      </p:sp>
      <p:sp>
        <p:nvSpPr>
          <p:cNvPr id="4" name="Rounded Rectangle 3"/>
          <p:cNvSpPr/>
          <p:nvPr/>
        </p:nvSpPr>
        <p:spPr>
          <a:xfrm>
            <a:off x="731520" y="1783080"/>
            <a:ext cx="5303520" cy="2057400"/>
          </a:xfrm>
          <a:prstGeom prst="roundRect">
            <a:avLst/>
          </a:prstGeom>
          <a:solidFill>
            <a:srgbClr val="F8F9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関数定義（必須・オプション引数、戻り値）、スコープ（グローバル・ローカル）、例外処理（try-except）、およびコンテナ（リスト、タプル、辞書、メソッド群）の操作手法を修得した。</a:t>
            </a:r>
          </a:p>
        </p:txBody>
      </p:sp>
      <p:sp>
        <p:nvSpPr>
          <p:cNvPr id="5" name="Rounded Rectangle 4"/>
          <p:cNvSpPr/>
          <p:nvPr/>
        </p:nvSpPr>
        <p:spPr>
          <a:xfrm>
            <a:off x="731520" y="1783080"/>
            <a:ext cx="530352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成果（事実 / 定量データ）</a:t>
            </a:r>
          </a:p>
        </p:txBody>
      </p:sp>
      <p:sp>
        <p:nvSpPr>
          <p:cNvPr id="6" name="Rounded Rectangle 5"/>
          <p:cNvSpPr/>
          <p:nvPr/>
        </p:nvSpPr>
        <p:spPr>
          <a:xfrm>
            <a:off x="6217920" y="1783080"/>
            <a:ext cx="5303520" cy="20574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データの保持や再利用性の高い関数設計が可能になり、実用的なデータ構造を考慮したプログラム構築の基盤が確立された。</a:t>
            </a:r>
          </a:p>
        </p:txBody>
      </p:sp>
      <p:sp>
        <p:nvSpPr>
          <p:cNvPr id="7" name="Rounded Rectangle 6"/>
          <p:cNvSpPr/>
          <p:nvPr/>
        </p:nvSpPr>
        <p:spPr>
          <a:xfrm>
            <a:off x="6217920" y="1783080"/>
            <a:ext cx="5303520" cy="34747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評価（ビジネス価値）</a:t>
            </a:r>
          </a:p>
        </p:txBody>
      </p:sp>
      <p:sp>
        <p:nvSpPr>
          <p:cNvPr id="8" name="Rounded Rectangle 7"/>
          <p:cNvSpPr/>
          <p:nvPr/>
        </p:nvSpPr>
        <p:spPr>
          <a:xfrm>
            <a:off x="731520" y="3977640"/>
            <a:ext cx="5303520" cy="2057400"/>
          </a:xfrm>
          <a:prstGeom prst="roundRect">
            <a:avLst/>
          </a:prstGeom>
          <a:solidFill>
            <a:srgbClr val="F8F9FA"/>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【外部連携】辞書やリストの入れ子構造（コンテナ中のコンテナ）における複雑なデータアクセスの際に、インデックス参照エラーやキー不存在例外を防ぐ堅牢なハンドリングが必要である。</a:t>
            </a:r>
          </a:p>
        </p:txBody>
      </p:sp>
      <p:sp>
        <p:nvSpPr>
          <p:cNvPr id="9" name="Rounded Rectangle 8"/>
          <p:cNvSpPr/>
          <p:nvPr/>
        </p:nvSpPr>
        <p:spPr>
          <a:xfrm>
            <a:off x="731520" y="3977640"/>
            <a:ext cx="5303520" cy="347472"/>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課題（ボトルネック）</a:t>
            </a:r>
          </a:p>
        </p:txBody>
      </p:sp>
      <p:sp>
        <p:nvSpPr>
          <p:cNvPr id="10" name="Rounded Rectangle 9"/>
          <p:cNvSpPr/>
          <p:nvPr/>
        </p:nvSpPr>
        <p:spPr>
          <a:xfrm>
            <a:off x="6217920" y="3977640"/>
            <a:ext cx="5303520" cy="20574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1">
                <a:solidFill>
                  <a:srgbClr val="8E44AD"/>
                </a:solidFill>
                <a:latin typeface="メイリオ"/>
              </a:rPr>
              <a:t>【計画中】 </a:t>
            </a:r>
            <a:r>
              <a:rPr sz="850" b="0">
                <a:solidFill>
                  <a:srgbClr val="333333"/>
                </a:solidFill>
                <a:latin typeface="メイリオ"/>
              </a:rPr>
              <a:t>文字列操作（第6章）およびループ処理（第7章）の学習へ進み、より実践的なテキスト処理ロジックの習得を目指す。</a:t>
            </a:r>
          </a:p>
          <a:p>
            <a:pPr>
              <a:lnSpc>
                <a:spcPct val="115000"/>
              </a:lnSpc>
              <a:spcAft>
                <a:spcPts val="300"/>
              </a:spcAft>
            </a:pPr>
            <a:r>
              <a:rPr sz="850">
                <a:solidFill>
                  <a:srgbClr val="333333"/>
                </a:solidFill>
                <a:latin typeface="メイリオ"/>
              </a:rPr>
              <a:t>・ </a:t>
            </a:r>
            <a:r>
              <a:rPr sz="850" b="0">
                <a:solidFill>
                  <a:srgbClr val="333333"/>
                </a:solidFill>
                <a:latin typeface="メイリオ"/>
              </a:rPr>
              <a:t>第6章（文字列操作）のテキスト読み込みとコード例の実装</a:t>
            </a:r>
          </a:p>
          <a:p>
            <a:pPr>
              <a:lnSpc>
                <a:spcPct val="115000"/>
              </a:lnSpc>
              <a:spcAft>
                <a:spcPts val="300"/>
              </a:spcAft>
            </a:pPr>
            <a:r>
              <a:rPr sz="850">
                <a:solidFill>
                  <a:srgbClr val="333333"/>
                </a:solidFill>
                <a:latin typeface="メイリオ"/>
              </a:rPr>
              <a:t>・ </a:t>
            </a:r>
            <a:r>
              <a:rPr sz="850" b="0">
                <a:solidFill>
                  <a:srgbClr val="333333"/>
                </a:solidFill>
                <a:latin typeface="メイリオ"/>
              </a:rPr>
              <a:t>第7章（ループ処理）のイテレーション検証</a:t>
            </a:r>
          </a:p>
        </p:txBody>
      </p:sp>
      <p:sp>
        <p:nvSpPr>
          <p:cNvPr id="11" name="Rounded Rectangle 10"/>
          <p:cNvSpPr/>
          <p:nvPr/>
        </p:nvSpPr>
        <p:spPr>
          <a:xfrm>
            <a:off x="6217920" y="3977640"/>
            <a:ext cx="5303520" cy="34747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次の一手（具体的対策）</a:t>
            </a:r>
          </a:p>
        </p:txBody>
      </p:sp>
      <p:sp>
        <p:nvSpPr>
          <p:cNvPr id="12" name="TextBox 11"/>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【自己学習】 Pythonプログラミング研修（第6章～第7章）</a:t>
            </a:r>
          </a:p>
        </p:txBody>
      </p:sp>
      <p:sp>
        <p:nvSpPr>
          <p:cNvPr id="3" name="Rounded Rectangle 2"/>
          <p:cNvSpPr/>
          <p:nvPr/>
        </p:nvSpPr>
        <p:spPr>
          <a:xfrm>
            <a:off x="731520" y="1280160"/>
            <a:ext cx="10789920" cy="411480"/>
          </a:xfrm>
          <a:prstGeom prst="roundRect">
            <a:avLst/>
          </a:prstGeom>
          <a:solidFill>
            <a:srgbClr val="FEF9E7"/>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3366"/>
                </a:solidFill>
                <a:latin typeface="メイリオ"/>
              </a:defRPr>
            </a:pPr>
            <a:r>
              <a:t>💡 アピールポイント ｜ 参照テキスト/サイト：独学プログラマー Python言語の基本から仕事のやり方まで（第6章〜第7章全章修得 / 累積20時間完了）</a:t>
            </a:r>
          </a:p>
        </p:txBody>
      </p:sp>
      <p:sp>
        <p:nvSpPr>
          <p:cNvPr id="4" name="Rounded Rectangle 3"/>
          <p:cNvSpPr/>
          <p:nvPr/>
        </p:nvSpPr>
        <p:spPr>
          <a:xfrm>
            <a:off x="731520" y="1783080"/>
            <a:ext cx="5303520" cy="2057400"/>
          </a:xfrm>
          <a:prstGeom prst="roundRect">
            <a:avLst/>
          </a:prstGeom>
          <a:solidFill>
            <a:srgbClr val="F8F9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三重クウォート文字列、インデックス・マイナスインデックス、イミュータブルな文字列操作（upper, lower, format, split, join, strip, replace, index）、およびスライス操作を修得した。さらにfor/whileループ、break/continue制御、ネストしたループによる反復処理を完全マスターした。</a:t>
            </a:r>
          </a:p>
        </p:txBody>
      </p:sp>
      <p:sp>
        <p:nvSpPr>
          <p:cNvPr id="5" name="Rounded Rectangle 4"/>
          <p:cNvSpPr/>
          <p:nvPr/>
        </p:nvSpPr>
        <p:spPr>
          <a:xfrm>
            <a:off x="731520" y="1783080"/>
            <a:ext cx="530352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成果（事実 / 定量データ）</a:t>
            </a:r>
          </a:p>
        </p:txBody>
      </p:sp>
      <p:sp>
        <p:nvSpPr>
          <p:cNvPr id="6" name="Rounded Rectangle 5"/>
          <p:cNvSpPr/>
          <p:nvPr/>
        </p:nvSpPr>
        <p:spPr>
          <a:xfrm>
            <a:off x="6217920" y="1783080"/>
            <a:ext cx="5303520" cy="20574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テキストデータ加工や複雑な繰り返し処理の自動化スキルが向上し、実務で必要となる高度な文字列解析ロジックの土台が完成した。</a:t>
            </a:r>
          </a:p>
        </p:txBody>
      </p:sp>
      <p:sp>
        <p:nvSpPr>
          <p:cNvPr id="7" name="Rounded Rectangle 6"/>
          <p:cNvSpPr/>
          <p:nvPr/>
        </p:nvSpPr>
        <p:spPr>
          <a:xfrm>
            <a:off x="6217920" y="1783080"/>
            <a:ext cx="5303520" cy="34747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評価（ビジネス価値）</a:t>
            </a:r>
          </a:p>
        </p:txBody>
      </p:sp>
      <p:sp>
        <p:nvSpPr>
          <p:cNvPr id="8" name="Rounded Rectangle 7"/>
          <p:cNvSpPr/>
          <p:nvPr/>
        </p:nvSpPr>
        <p:spPr>
          <a:xfrm>
            <a:off x="731520" y="3977640"/>
            <a:ext cx="5303520" cy="2057400"/>
          </a:xfrm>
          <a:prstGeom prst="roundRect">
            <a:avLst/>
          </a:prstGeom>
          <a:solidFill>
            <a:srgbClr val="F8F9FA"/>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【技術適用】入れ子のループ（ネストループ）を使用する際の計算量増加を防ぐためのアルゴリズム最適化と、インデックス参照時の境界値エラー対策に留意する必要がある。</a:t>
            </a:r>
          </a:p>
        </p:txBody>
      </p:sp>
      <p:sp>
        <p:nvSpPr>
          <p:cNvPr id="9" name="Rounded Rectangle 8"/>
          <p:cNvSpPr/>
          <p:nvPr/>
        </p:nvSpPr>
        <p:spPr>
          <a:xfrm>
            <a:off x="731520" y="3977640"/>
            <a:ext cx="5303520" cy="347472"/>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課題（ボトルネック）</a:t>
            </a:r>
          </a:p>
        </p:txBody>
      </p:sp>
      <p:sp>
        <p:nvSpPr>
          <p:cNvPr id="10" name="Rounded Rectangle 9"/>
          <p:cNvSpPr/>
          <p:nvPr/>
        </p:nvSpPr>
        <p:spPr>
          <a:xfrm>
            <a:off x="6217920" y="3977640"/>
            <a:ext cx="5303520" cy="20574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1">
                <a:solidFill>
                  <a:srgbClr val="2980B9"/>
                </a:solidFill>
                <a:latin typeface="メイリオ"/>
              </a:rPr>
              <a:t>【対応中】 </a:t>
            </a:r>
            <a:r>
              <a:rPr sz="850" b="0">
                <a:solidFill>
                  <a:srgbClr val="333333"/>
                </a:solidFill>
                <a:latin typeface="メイリオ"/>
              </a:rPr>
              <a:t>研修で得た文字列操作・ループ処理の知見を、エクセルパーサーおよびテキスト整形モジュールへ適用する。</a:t>
            </a:r>
          </a:p>
          <a:p>
            <a:pPr>
              <a:lnSpc>
                <a:spcPct val="115000"/>
              </a:lnSpc>
              <a:spcAft>
                <a:spcPts val="300"/>
              </a:spcAft>
            </a:pPr>
            <a:r>
              <a:rPr sz="850">
                <a:solidFill>
                  <a:srgbClr val="333333"/>
                </a:solidFill>
                <a:latin typeface="メイリオ"/>
              </a:rPr>
              <a:t>・ </a:t>
            </a:r>
            <a:r>
              <a:rPr sz="850" b="0">
                <a:solidFill>
                  <a:srgbClr val="333333"/>
                </a:solidFill>
                <a:latin typeface="メイリオ"/>
              </a:rPr>
              <a:t>文字列分割・結合メソッドを用いたテキスト整形スクリプトの実装</a:t>
            </a:r>
          </a:p>
          <a:p>
            <a:pPr>
              <a:lnSpc>
                <a:spcPct val="115000"/>
              </a:lnSpc>
              <a:spcAft>
                <a:spcPts val="300"/>
              </a:spcAft>
            </a:pPr>
            <a:r>
              <a:rPr sz="850">
                <a:solidFill>
                  <a:srgbClr val="333333"/>
                </a:solidFill>
                <a:latin typeface="メイリオ"/>
              </a:rPr>
              <a:t>・ </a:t>
            </a:r>
            <a:r>
              <a:rPr sz="850" b="0">
                <a:solidFill>
                  <a:srgbClr val="333333"/>
                </a:solidFill>
                <a:latin typeface="メイリオ"/>
              </a:rPr>
              <a:t>ループ処理を活用したデータ一括変換の演習</a:t>
            </a:r>
          </a:p>
        </p:txBody>
      </p:sp>
      <p:sp>
        <p:nvSpPr>
          <p:cNvPr id="11" name="Rounded Rectangle 10"/>
          <p:cNvSpPr/>
          <p:nvPr/>
        </p:nvSpPr>
        <p:spPr>
          <a:xfrm>
            <a:off x="6217920" y="3977640"/>
            <a:ext cx="5303520" cy="34747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次の一手（具体的対策）</a:t>
            </a:r>
          </a:p>
        </p:txBody>
      </p:sp>
      <p:sp>
        <p:nvSpPr>
          <p:cNvPr id="12" name="TextBox 11"/>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【自己学習】 9月後半 振り返りとまとめ</a:t>
            </a:r>
          </a:p>
        </p:txBody>
      </p:sp>
      <p:sp>
        <p:nvSpPr>
          <p:cNvPr id="3" name="Rounded Rectangle 2"/>
          <p:cNvSpPr/>
          <p:nvPr/>
        </p:nvSpPr>
        <p:spPr>
          <a:xfrm>
            <a:off x="731520" y="1280160"/>
            <a:ext cx="10789920" cy="411480"/>
          </a:xfrm>
          <a:prstGeom prst="roundRect">
            <a:avLst/>
          </a:prstGeom>
          <a:solidFill>
            <a:srgbClr val="FEF9E7"/>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3366"/>
                </a:solidFill>
                <a:latin typeface="メイリオ"/>
              </a:defRPr>
            </a:pPr>
            <a:r>
              <a:t>💡 アピールポイント ｜ 参照テキスト/サイト：Python実践学習および社内DXツール開発の統合（累積10時間完了）</a:t>
            </a:r>
          </a:p>
        </p:txBody>
      </p:sp>
      <p:sp>
        <p:nvSpPr>
          <p:cNvPr id="4" name="Rounded Rectangle 3"/>
          <p:cNvSpPr/>
          <p:nvPr/>
        </p:nvSpPr>
        <p:spPr>
          <a:xfrm>
            <a:off x="731520" y="1783080"/>
            <a:ext cx="5303520" cy="2057400"/>
          </a:xfrm>
          <a:prstGeom prst="roundRect">
            <a:avLst/>
          </a:prstGeom>
          <a:solidFill>
            <a:srgbClr val="F8F9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9月を通じてPythonの基礎からループ・文字列操作、さらにWeb API（FastAPI）やLLM（Gemini API）を駆使したエクセル・PPTX自動化パイプラインの構築を完遂した。</a:t>
            </a:r>
          </a:p>
        </p:txBody>
      </p:sp>
      <p:sp>
        <p:nvSpPr>
          <p:cNvPr id="5" name="Rounded Rectangle 4"/>
          <p:cNvSpPr/>
          <p:nvPr/>
        </p:nvSpPr>
        <p:spPr>
          <a:xfrm>
            <a:off x="731520" y="1783080"/>
            <a:ext cx="530352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成果（事実 / 定量データ）</a:t>
            </a:r>
          </a:p>
        </p:txBody>
      </p:sp>
      <p:sp>
        <p:nvSpPr>
          <p:cNvPr id="6" name="Rounded Rectangle 5"/>
          <p:cNvSpPr/>
          <p:nvPr/>
        </p:nvSpPr>
        <p:spPr>
          <a:xfrm>
            <a:off x="6217920" y="1783080"/>
            <a:ext cx="5303520" cy="20574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単なる座学に留まらず、実務課題（社内DX・日報自動化）に直結するシステム開発を全フェーズ通して経験できたことで、エンジニアリング実践力が飛躍的に向上した。</a:t>
            </a:r>
          </a:p>
        </p:txBody>
      </p:sp>
      <p:sp>
        <p:nvSpPr>
          <p:cNvPr id="7" name="Rounded Rectangle 6"/>
          <p:cNvSpPr/>
          <p:nvPr/>
        </p:nvSpPr>
        <p:spPr>
          <a:xfrm>
            <a:off x="6217920" y="1783080"/>
            <a:ext cx="5303520" cy="34747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評価（ビジネス価値）</a:t>
            </a:r>
          </a:p>
        </p:txBody>
      </p:sp>
      <p:sp>
        <p:nvSpPr>
          <p:cNvPr id="8" name="Rounded Rectangle 7"/>
          <p:cNvSpPr/>
          <p:nvPr/>
        </p:nvSpPr>
        <p:spPr>
          <a:xfrm>
            <a:off x="731520" y="3977640"/>
            <a:ext cx="5303520" cy="2057400"/>
          </a:xfrm>
          <a:prstGeom prst="roundRect">
            <a:avLst/>
          </a:prstGeom>
          <a:solidFill>
            <a:srgbClr val="F8F9FA"/>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【性能最適化】複数ユーザーからの同時アクセス時におけるデータベース取り込みや、エラー発生時のプッシュ通知の確実性向上に向けた継続的な監視体制の強化。</a:t>
            </a:r>
          </a:p>
        </p:txBody>
      </p:sp>
      <p:sp>
        <p:nvSpPr>
          <p:cNvPr id="9" name="Rounded Rectangle 8"/>
          <p:cNvSpPr/>
          <p:nvPr/>
        </p:nvSpPr>
        <p:spPr>
          <a:xfrm>
            <a:off x="731520" y="3977640"/>
            <a:ext cx="5303520" cy="347472"/>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課題（ボトルネック）</a:t>
            </a:r>
          </a:p>
        </p:txBody>
      </p:sp>
      <p:sp>
        <p:nvSpPr>
          <p:cNvPr id="10" name="Rounded Rectangle 9"/>
          <p:cNvSpPr/>
          <p:nvPr/>
        </p:nvSpPr>
        <p:spPr>
          <a:xfrm>
            <a:off x="6217920" y="3977640"/>
            <a:ext cx="5303520" cy="20574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【着手予定】社内WEBツール（別チーム管理）のデータベース取り込みに向けたJSON自動インポート連携テストの実施</a:t>
            </a:r>
          </a:p>
          <a:p>
            <a:pPr>
              <a:lnSpc>
                <a:spcPct val="115000"/>
              </a:lnSpc>
              <a:spcAft>
                <a:spcPts val="300"/>
              </a:spcAft>
            </a:pPr>
            <a:r>
              <a:rPr sz="850">
                <a:solidFill>
                  <a:srgbClr val="333333"/>
                </a:solidFill>
                <a:latin typeface="メイリオ"/>
              </a:rPr>
              <a:t>・ </a:t>
            </a:r>
            <a:r>
              <a:rPr sz="850" b="0">
                <a:solidFill>
                  <a:srgbClr val="333333"/>
                </a:solidFill>
                <a:latin typeface="メイリオ"/>
              </a:rPr>
              <a:t>社内WEBツール管理チームとのJSONスキーマ最終確認</a:t>
            </a:r>
          </a:p>
          <a:p>
            <a:pPr>
              <a:lnSpc>
                <a:spcPct val="115000"/>
              </a:lnSpc>
              <a:spcAft>
                <a:spcPts val="300"/>
              </a:spcAft>
            </a:pPr>
            <a:r>
              <a:rPr sz="850">
                <a:solidFill>
                  <a:srgbClr val="333333"/>
                </a:solidFill>
                <a:latin typeface="メイリオ"/>
              </a:rPr>
              <a:t>・ </a:t>
            </a:r>
            <a:r>
              <a:rPr sz="850" b="0">
                <a:solidFill>
                  <a:srgbClr val="333333"/>
                </a:solidFill>
                <a:latin typeface="メイリオ"/>
              </a:rPr>
              <a:t>10月度の開発ロードマップおよび自動化拡張計画の策定</a:t>
            </a:r>
          </a:p>
        </p:txBody>
      </p:sp>
      <p:sp>
        <p:nvSpPr>
          <p:cNvPr id="11" name="Rounded Rectangle 10"/>
          <p:cNvSpPr/>
          <p:nvPr/>
        </p:nvSpPr>
        <p:spPr>
          <a:xfrm>
            <a:off x="6217920" y="3977640"/>
            <a:ext cx="5303520" cy="34747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次の一手（具体的対策）</a:t>
            </a:r>
          </a:p>
        </p:txBody>
      </p:sp>
      <p:sp>
        <p:nvSpPr>
          <p:cNvPr id="12" name="TextBox 11"/>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【社内業務】 エクセルデータ→pptxドキュメント化ツールの制作（コアエンジン開発・Gemini要約）</a:t>
            </a:r>
          </a:p>
        </p:txBody>
      </p:sp>
      <p:sp>
        <p:nvSpPr>
          <p:cNvPr id="3" name="Rounded Rectangle 2"/>
          <p:cNvSpPr/>
          <p:nvPr/>
        </p:nvSpPr>
        <p:spPr>
          <a:xfrm>
            <a:off x="731520" y="1280160"/>
            <a:ext cx="10789920" cy="411480"/>
          </a:xfrm>
          <a:prstGeom prst="roundRect">
            <a:avLst/>
          </a:prstGeom>
          <a:solidFill>
            <a:srgbClr val="FEF9E7"/>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3366"/>
                </a:solidFill>
                <a:latin typeface="メイリオ"/>
              </a:defRPr>
            </a:pPr>
            <a:r>
              <a:t>💡 アピールポイント ｜ 使用ツール：Google Gemini, Visual Studio Code（コアエンジン設計・実装 / 累積40時間完了）</a:t>
            </a:r>
          </a:p>
        </p:txBody>
      </p:sp>
      <p:sp>
        <p:nvSpPr>
          <p:cNvPr id="4" name="Rounded Rectangle 3"/>
          <p:cNvSpPr/>
          <p:nvPr/>
        </p:nvSpPr>
        <p:spPr>
          <a:xfrm>
            <a:off x="731520" y="1783080"/>
            <a:ext cx="5303520" cy="2057400"/>
          </a:xfrm>
          <a:prstGeom prst="roundRect">
            <a:avLst/>
          </a:prstGeom>
          <a:solidFill>
            <a:srgbClr val="F8F9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openpyxlを用いたExcelパーサーの補完ロジック（結合セル前方補完、数式値フォールバック、可変長境界制御）を実装し、Gemini APIおよびPydanticを活用したStructured Outputsによる安定した構造化JSON抽出を実現した。</a:t>
            </a:r>
          </a:p>
        </p:txBody>
      </p:sp>
      <p:sp>
        <p:nvSpPr>
          <p:cNvPr id="5" name="Rounded Rectangle 4"/>
          <p:cNvSpPr/>
          <p:nvPr/>
        </p:nvSpPr>
        <p:spPr>
          <a:xfrm>
            <a:off x="731520" y="1783080"/>
            <a:ext cx="530352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成果（事実 / 定量データ）</a:t>
            </a:r>
          </a:p>
        </p:txBody>
      </p:sp>
      <p:sp>
        <p:nvSpPr>
          <p:cNvPr id="6" name="Rounded Rectangle 5"/>
          <p:cNvSpPr/>
          <p:nvPr/>
        </p:nvSpPr>
        <p:spPr>
          <a:xfrm>
            <a:off x="6217920" y="1783080"/>
            <a:ext cx="5303520" cy="20574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人間が作成したExcel特有の構造的揺らぎや空行を自動正規化することで外注コストを削減し、ドキュメント生成のリードタイムを大幅に短縮した。</a:t>
            </a:r>
          </a:p>
        </p:txBody>
      </p:sp>
      <p:sp>
        <p:nvSpPr>
          <p:cNvPr id="7" name="Rounded Rectangle 6"/>
          <p:cNvSpPr/>
          <p:nvPr/>
        </p:nvSpPr>
        <p:spPr>
          <a:xfrm>
            <a:off x="6217920" y="1783080"/>
            <a:ext cx="5303520" cy="34747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評価（ビジネス価値）</a:t>
            </a:r>
          </a:p>
        </p:txBody>
      </p:sp>
      <p:sp>
        <p:nvSpPr>
          <p:cNvPr id="8" name="Rounded Rectangle 7"/>
          <p:cNvSpPr/>
          <p:nvPr/>
        </p:nvSpPr>
        <p:spPr>
          <a:xfrm>
            <a:off x="731520" y="3977640"/>
            <a:ext cx="5303520" cy="2057400"/>
          </a:xfrm>
          <a:prstGeom prst="roundRect">
            <a:avLst/>
          </a:prstGeom>
          <a:solidFill>
            <a:srgbClr val="F8F9FA"/>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【性能最適化】大量のExcelデータ処理時におけるAPIのレートリミット対策や、ネットワーク障害時の指数バックオフリトライの安定性確保が技術的課題となる。</a:t>
            </a:r>
          </a:p>
        </p:txBody>
      </p:sp>
      <p:sp>
        <p:nvSpPr>
          <p:cNvPr id="9" name="Rounded Rectangle 8"/>
          <p:cNvSpPr/>
          <p:nvPr/>
        </p:nvSpPr>
        <p:spPr>
          <a:xfrm>
            <a:off x="731520" y="3977640"/>
            <a:ext cx="5303520" cy="347472"/>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課題（ボトルネック）</a:t>
            </a:r>
          </a:p>
        </p:txBody>
      </p:sp>
      <p:sp>
        <p:nvSpPr>
          <p:cNvPr id="10" name="Rounded Rectangle 9"/>
          <p:cNvSpPr/>
          <p:nvPr/>
        </p:nvSpPr>
        <p:spPr>
          <a:xfrm>
            <a:off x="6217920" y="3977640"/>
            <a:ext cx="5303520" cy="20574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1">
                <a:solidFill>
                  <a:srgbClr val="2980B9"/>
                </a:solidFill>
                <a:latin typeface="メイリオ"/>
              </a:rPr>
              <a:t>【対応中】 </a:t>
            </a:r>
            <a:r>
              <a:rPr sz="850" b="0">
                <a:solidFill>
                  <a:srgbClr val="333333"/>
                </a:solidFill>
                <a:latin typeface="メイリオ"/>
              </a:rPr>
              <a:t>PPTX生成モジュールにおけるスマート折り返し処理およびテキストの動的サイズ制御の検証を進める。</a:t>
            </a:r>
          </a:p>
          <a:p>
            <a:pPr>
              <a:lnSpc>
                <a:spcPct val="115000"/>
              </a:lnSpc>
              <a:spcAft>
                <a:spcPts val="300"/>
              </a:spcAft>
            </a:pPr>
            <a:r>
              <a:rPr sz="850">
                <a:solidFill>
                  <a:srgbClr val="333333"/>
                </a:solidFill>
                <a:latin typeface="メイリオ"/>
              </a:rPr>
              <a:t>・ </a:t>
            </a:r>
            <a:r>
              <a:rPr sz="850" b="0">
                <a:solidFill>
                  <a:srgbClr val="333333"/>
                </a:solidFill>
                <a:latin typeface="メイリオ"/>
              </a:rPr>
              <a:t>pptx_generator.pyのレイアウト・フォントサイズ自動調整の単体テスト</a:t>
            </a:r>
          </a:p>
          <a:p>
            <a:pPr>
              <a:lnSpc>
                <a:spcPct val="115000"/>
              </a:lnSpc>
              <a:spcAft>
                <a:spcPts val="300"/>
              </a:spcAft>
            </a:pPr>
            <a:r>
              <a:rPr sz="850">
                <a:solidFill>
                  <a:srgbClr val="333333"/>
                </a:solidFill>
                <a:latin typeface="メイリオ"/>
              </a:rPr>
              <a:t>・ </a:t>
            </a:r>
            <a:r>
              <a:rPr sz="850" b="0">
                <a:solidFill>
                  <a:srgbClr val="333333"/>
                </a:solidFill>
                <a:latin typeface="メイリオ"/>
              </a:rPr>
              <a:t>例外発生時のログ出力とフォールバック処理の動作確認</a:t>
            </a:r>
          </a:p>
        </p:txBody>
      </p:sp>
      <p:sp>
        <p:nvSpPr>
          <p:cNvPr id="11" name="Rounded Rectangle 10"/>
          <p:cNvSpPr/>
          <p:nvPr/>
        </p:nvSpPr>
        <p:spPr>
          <a:xfrm>
            <a:off x="6217920" y="3977640"/>
            <a:ext cx="5303520" cy="34747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次の一手（具体的対策）</a:t>
            </a:r>
          </a:p>
        </p:txBody>
      </p:sp>
      <p:sp>
        <p:nvSpPr>
          <p:cNvPr id="12" name="TextBox 11"/>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【社内業務】 エクセルデータ→pptxドキュメント化ツールの制作（LINE WORKS Webhook連携）</a:t>
            </a:r>
          </a:p>
        </p:txBody>
      </p:sp>
      <p:sp>
        <p:nvSpPr>
          <p:cNvPr id="3" name="Rounded Rectangle 2"/>
          <p:cNvSpPr/>
          <p:nvPr/>
        </p:nvSpPr>
        <p:spPr>
          <a:xfrm>
            <a:off x="731520" y="1280160"/>
            <a:ext cx="10789920" cy="411480"/>
          </a:xfrm>
          <a:prstGeom prst="roundRect">
            <a:avLst/>
          </a:prstGeom>
          <a:solidFill>
            <a:srgbClr val="FEF9E7"/>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3366"/>
                </a:solidFill>
                <a:latin typeface="メイリオ"/>
              </a:defRPr>
            </a:pPr>
            <a:r>
              <a:t>💡 アピールポイント ｜ 使用ツール：Google Gemini, Visual Studio Code, LINE WORKS（Webhook API基盤構築 / 累積45時間完了）</a:t>
            </a:r>
          </a:p>
        </p:txBody>
      </p:sp>
      <p:sp>
        <p:nvSpPr>
          <p:cNvPr id="4" name="Rounded Rectangle 3"/>
          <p:cNvSpPr/>
          <p:nvPr/>
        </p:nvSpPr>
        <p:spPr>
          <a:xfrm>
            <a:off x="731520" y="1783080"/>
            <a:ext cx="5303520" cy="2057400"/>
          </a:xfrm>
          <a:prstGeom prst="roundRect">
            <a:avLst/>
          </a:prstGeom>
          <a:solidFill>
            <a:srgbClr val="F8F9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FastAPIを用いたWebhook受信APIエンドポイントを構築し、HMAC-SHA256署名検証によるセキュリティ担保、およびBackgroundTasksによる重い処理の非同期分離を実装した。</a:t>
            </a:r>
          </a:p>
        </p:txBody>
      </p:sp>
      <p:sp>
        <p:nvSpPr>
          <p:cNvPr id="5" name="Rounded Rectangle 4"/>
          <p:cNvSpPr/>
          <p:nvPr/>
        </p:nvSpPr>
        <p:spPr>
          <a:xfrm>
            <a:off x="731520" y="1783080"/>
            <a:ext cx="530352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成果（事実 / 定量データ）</a:t>
            </a:r>
          </a:p>
        </p:txBody>
      </p:sp>
      <p:sp>
        <p:nvSpPr>
          <p:cNvPr id="6" name="Rounded Rectangle 5"/>
          <p:cNvSpPr/>
          <p:nvPr/>
        </p:nvSpPr>
        <p:spPr>
          <a:xfrm>
            <a:off x="6217920" y="1783080"/>
            <a:ext cx="5303520" cy="20574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退勤時などのアクセス集中（スパイク）に対して遅延なく200 OK応答を返却しつつ裏側で処理を完結させる高スケーラブルなAPI基盤を確立した。</a:t>
            </a:r>
          </a:p>
        </p:txBody>
      </p:sp>
      <p:sp>
        <p:nvSpPr>
          <p:cNvPr id="7" name="Rounded Rectangle 6"/>
          <p:cNvSpPr/>
          <p:nvPr/>
        </p:nvSpPr>
        <p:spPr>
          <a:xfrm>
            <a:off x="6217920" y="1783080"/>
            <a:ext cx="5303520" cy="34747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評価（ビジネス価値）</a:t>
            </a:r>
          </a:p>
        </p:txBody>
      </p:sp>
      <p:sp>
        <p:nvSpPr>
          <p:cNvPr id="8" name="Rounded Rectangle 7"/>
          <p:cNvSpPr/>
          <p:nvPr/>
        </p:nvSpPr>
        <p:spPr>
          <a:xfrm>
            <a:off x="731520" y="3977640"/>
            <a:ext cx="5303520" cy="2057400"/>
          </a:xfrm>
          <a:prstGeom prst="roundRect">
            <a:avLst/>
          </a:prstGeom>
          <a:solidFill>
            <a:srgbClr val="F8F9FA"/>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【認証】LINE WORKSのファイルダウンロードAPIにおける302リダイレクト時の認証ヘッダー除去（Header Stripping）とバイナリ取得の堅牢化が不可欠である。</a:t>
            </a:r>
          </a:p>
        </p:txBody>
      </p:sp>
      <p:sp>
        <p:nvSpPr>
          <p:cNvPr id="9" name="Rounded Rectangle 8"/>
          <p:cNvSpPr/>
          <p:nvPr/>
        </p:nvSpPr>
        <p:spPr>
          <a:xfrm>
            <a:off x="731520" y="3977640"/>
            <a:ext cx="5303520" cy="347472"/>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課題（ボトルネック）</a:t>
            </a:r>
          </a:p>
        </p:txBody>
      </p:sp>
      <p:sp>
        <p:nvSpPr>
          <p:cNvPr id="10" name="Rounded Rectangle 9"/>
          <p:cNvSpPr/>
          <p:nvPr/>
        </p:nvSpPr>
        <p:spPr>
          <a:xfrm>
            <a:off x="6217920" y="3977640"/>
            <a:ext cx="5303520" cy="20574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【着手予定】社内本番運用に向けたDocker環境でのコンテナ化およびCloudflare Tunnelを通したHTTPS公開の検証</a:t>
            </a:r>
          </a:p>
          <a:p>
            <a:pPr>
              <a:lnSpc>
                <a:spcPct val="115000"/>
              </a:lnSpc>
              <a:spcAft>
                <a:spcPts val="300"/>
              </a:spcAft>
            </a:pPr>
            <a:r>
              <a:rPr sz="850">
                <a:solidFill>
                  <a:srgbClr val="333333"/>
                </a:solidFill>
                <a:latin typeface="メイリオ"/>
              </a:rPr>
              <a:t>・ </a:t>
            </a:r>
            <a:r>
              <a:rPr sz="850" b="0">
                <a:solidFill>
                  <a:srgbClr val="333333"/>
                </a:solidFill>
                <a:latin typeface="メイリオ"/>
              </a:rPr>
              <a:t>TSK-512（Excel添付日報自動処理の正常系結合テスト）の最終検証</a:t>
            </a:r>
          </a:p>
          <a:p>
            <a:pPr>
              <a:lnSpc>
                <a:spcPct val="115000"/>
              </a:lnSpc>
              <a:spcAft>
                <a:spcPts val="300"/>
              </a:spcAft>
            </a:pPr>
            <a:r>
              <a:rPr sz="850">
                <a:solidFill>
                  <a:srgbClr val="333333"/>
                </a:solidFill>
                <a:latin typeface="メイリオ"/>
              </a:rPr>
              <a:t>・ </a:t>
            </a:r>
            <a:r>
              <a:rPr sz="850" b="0">
                <a:solidFill>
                  <a:srgbClr val="333333"/>
                </a:solidFill>
                <a:latin typeface="メイリオ"/>
              </a:rPr>
              <a:t>Dockerコンテナ化のためのDockerfileおよびdocker-compose.ymlの作成</a:t>
            </a:r>
          </a:p>
        </p:txBody>
      </p:sp>
      <p:sp>
        <p:nvSpPr>
          <p:cNvPr id="11" name="Rounded Rectangle 10"/>
          <p:cNvSpPr/>
          <p:nvPr/>
        </p:nvSpPr>
        <p:spPr>
          <a:xfrm>
            <a:off x="6217920" y="3977640"/>
            <a:ext cx="5303520" cy="34747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次の一手（具体的対策）</a:t>
            </a:r>
          </a:p>
        </p:txBody>
      </p:sp>
      <p:sp>
        <p:nvSpPr>
          <p:cNvPr id="12" name="TextBox 11"/>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b="1">
                <a:solidFill>
                  <a:srgbClr val="003366"/>
                </a:solidFill>
                <a:latin typeface="メイリオ"/>
              </a:defRPr>
            </a:pPr>
            <a:r>
              <a:t>【社内業務】 エクセルデータ→pptxドキュメント化ツールの制作（環境分離・リリース準備）</a:t>
            </a:r>
          </a:p>
        </p:txBody>
      </p:sp>
      <p:sp>
        <p:nvSpPr>
          <p:cNvPr id="3" name="Rounded Rectangle 2"/>
          <p:cNvSpPr/>
          <p:nvPr/>
        </p:nvSpPr>
        <p:spPr>
          <a:xfrm>
            <a:off x="731520" y="1280160"/>
            <a:ext cx="10789920" cy="411480"/>
          </a:xfrm>
          <a:prstGeom prst="roundRect">
            <a:avLst/>
          </a:prstGeom>
          <a:solidFill>
            <a:srgbClr val="FEF9E7"/>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3366"/>
                </a:solidFill>
                <a:latin typeface="メイリオ"/>
              </a:defRPr>
            </a:pPr>
            <a:r>
              <a:t>💡 アピールポイント ｜ 使用ツール：Google Gemini, Visual Studio Code, .env / config.py（環境設定・パス外部化 / 累積15時間完了）</a:t>
            </a:r>
          </a:p>
        </p:txBody>
      </p:sp>
      <p:sp>
        <p:nvSpPr>
          <p:cNvPr id="4" name="Rounded Rectangle 3"/>
          <p:cNvSpPr/>
          <p:nvPr/>
        </p:nvSpPr>
        <p:spPr>
          <a:xfrm>
            <a:off x="731520" y="1783080"/>
            <a:ext cx="5303520" cy="2057400"/>
          </a:xfrm>
          <a:prstGeom prst="roundRect">
            <a:avLst/>
          </a:prstGeom>
          <a:solidFill>
            <a:srgbClr val="F8F9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ビジネスロジックとインフラストレージ（inputs/outputsフォルダ）を分離するconfig.pyおよび.envによるパス集約設計を完了させ、pathlibによるディレクトリの自動生成ロジックを組み込んだ。</a:t>
            </a:r>
          </a:p>
        </p:txBody>
      </p:sp>
      <p:sp>
        <p:nvSpPr>
          <p:cNvPr id="5" name="Rounded Rectangle 4"/>
          <p:cNvSpPr/>
          <p:nvPr/>
        </p:nvSpPr>
        <p:spPr>
          <a:xfrm>
            <a:off x="731520" y="1783080"/>
            <a:ext cx="530352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成果（事実 / 定量データ）</a:t>
            </a:r>
          </a:p>
        </p:txBody>
      </p:sp>
      <p:sp>
        <p:nvSpPr>
          <p:cNvPr id="6" name="Rounded Rectangle 5"/>
          <p:cNvSpPr/>
          <p:nvPr/>
        </p:nvSpPr>
        <p:spPr>
          <a:xfrm>
            <a:off x="6217920" y="1783080"/>
            <a:ext cx="5303520" cy="20574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設定ファイルを変更するだけで社内ファイルサーバーやNAS、Linux環境への移行が容易になり、デプロイ時のコード修正リスクを最小化できた。</a:t>
            </a:r>
          </a:p>
        </p:txBody>
      </p:sp>
      <p:sp>
        <p:nvSpPr>
          <p:cNvPr id="7" name="Rounded Rectangle 6"/>
          <p:cNvSpPr/>
          <p:nvPr/>
        </p:nvSpPr>
        <p:spPr>
          <a:xfrm>
            <a:off x="6217920" y="1783080"/>
            <a:ext cx="5303520" cy="34747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評価（ビジネス価値）</a:t>
            </a:r>
          </a:p>
        </p:txBody>
      </p:sp>
      <p:sp>
        <p:nvSpPr>
          <p:cNvPr id="8" name="Rounded Rectangle 7"/>
          <p:cNvSpPr/>
          <p:nvPr/>
        </p:nvSpPr>
        <p:spPr>
          <a:xfrm>
            <a:off x="731520" y="3977640"/>
            <a:ext cx="5303520" cy="2057400"/>
          </a:xfrm>
          <a:prstGeom prst="roundRect">
            <a:avLst/>
          </a:prstGeom>
          <a:solidFill>
            <a:srgbClr val="F8F9FA"/>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0">
                <a:solidFill>
                  <a:srgbClr val="333333"/>
                </a:solidFill>
                <a:latin typeface="メイリオ"/>
              </a:rPr>
              <a:t>【外部連携】マルチユーザーによる同時提出時のファイル名競合を防ぐため、UUIDやタイムスタンプを付与した一意化命名規則の徹底が必要である。</a:t>
            </a:r>
          </a:p>
        </p:txBody>
      </p:sp>
      <p:sp>
        <p:nvSpPr>
          <p:cNvPr id="9" name="Rounded Rectangle 8"/>
          <p:cNvSpPr/>
          <p:nvPr/>
        </p:nvSpPr>
        <p:spPr>
          <a:xfrm>
            <a:off x="731520" y="3977640"/>
            <a:ext cx="5303520" cy="347472"/>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課題（ボトルネック）</a:t>
            </a:r>
          </a:p>
        </p:txBody>
      </p:sp>
      <p:sp>
        <p:nvSpPr>
          <p:cNvPr id="10" name="Rounded Rectangle 9"/>
          <p:cNvSpPr/>
          <p:nvPr/>
        </p:nvSpPr>
        <p:spPr>
          <a:xfrm>
            <a:off x="6217920" y="3977640"/>
            <a:ext cx="5303520" cy="20574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lnSpc>
                <a:spcPct val="115000"/>
              </a:lnSpc>
              <a:spcAft>
                <a:spcPts val="300"/>
              </a:spcAft>
            </a:pPr>
            <a:r>
              <a:rPr sz="850">
                <a:solidFill>
                  <a:srgbClr val="333333"/>
                </a:solidFill>
                <a:latin typeface="メイリオ"/>
              </a:rPr>
              <a:t>・ </a:t>
            </a:r>
            <a:r>
              <a:rPr sz="850" b="1">
                <a:solidFill>
                  <a:srgbClr val="8E44AD"/>
                </a:solidFill>
                <a:latin typeface="メイリオ"/>
              </a:rPr>
              <a:t>【計画中】 </a:t>
            </a:r>
            <a:r>
              <a:rPr sz="850" b="0">
                <a:solidFill>
                  <a:srgbClr val="333333"/>
                </a:solidFill>
                <a:latin typeface="メイリオ"/>
              </a:rPr>
              <a:t>送信者自動特定機能および担当コンサルタントとの紐付け設定の外部化、成果物のマルチターゲット自動通知機能の実装</a:t>
            </a:r>
          </a:p>
          <a:p>
            <a:pPr>
              <a:lnSpc>
                <a:spcPct val="115000"/>
              </a:lnSpc>
              <a:spcAft>
                <a:spcPts val="300"/>
              </a:spcAft>
            </a:pPr>
            <a:r>
              <a:rPr sz="850">
                <a:solidFill>
                  <a:srgbClr val="333333"/>
                </a:solidFill>
                <a:latin typeface="メイリオ"/>
              </a:rPr>
              <a:t>・ </a:t>
            </a:r>
            <a:r>
              <a:rPr sz="850" b="0">
                <a:solidFill>
                  <a:srgbClr val="333333"/>
                </a:solidFill>
                <a:latin typeface="メイリオ"/>
              </a:rPr>
              <a:t>送信者userIdに基づく担当コンサルタント自動ルーティング設定の外部化</a:t>
            </a:r>
          </a:p>
          <a:p>
            <a:pPr>
              <a:lnSpc>
                <a:spcPct val="115000"/>
              </a:lnSpc>
              <a:spcAft>
                <a:spcPts val="300"/>
              </a:spcAft>
            </a:pPr>
            <a:r>
              <a:rPr sz="850">
                <a:solidFill>
                  <a:srgbClr val="333333"/>
                </a:solidFill>
                <a:latin typeface="メイリオ"/>
              </a:rPr>
              <a:t>・ </a:t>
            </a:r>
            <a:r>
              <a:rPr sz="850" b="0">
                <a:solidFill>
                  <a:srgbClr val="333333"/>
                </a:solidFill>
                <a:latin typeface="メイリオ"/>
              </a:rPr>
              <a:t>生成されたPPTX・JSONのマルチターゲット自動通知機能の結合テスト</a:t>
            </a:r>
          </a:p>
        </p:txBody>
      </p:sp>
      <p:sp>
        <p:nvSpPr>
          <p:cNvPr id="11" name="Rounded Rectangle 10"/>
          <p:cNvSpPr/>
          <p:nvPr/>
        </p:nvSpPr>
        <p:spPr>
          <a:xfrm>
            <a:off x="6217920" y="3977640"/>
            <a:ext cx="5303520" cy="34747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latin typeface="メイリオ"/>
              </a:defRPr>
            </a:pPr>
            <a:r>
              <a:t>🚀 次の一手（具体的対策）</a:t>
            </a:r>
          </a:p>
        </p:txBody>
      </p:sp>
      <p:sp>
        <p:nvSpPr>
          <p:cNvPr id="12" name="TextBox 11"/>
          <p:cNvSpPr txBox="1"/>
          <p:nvPr/>
        </p:nvSpPr>
        <p:spPr>
          <a:xfrm>
            <a:off x="10058400" y="6400800"/>
            <a:ext cx="1371600" cy="274320"/>
          </a:xfrm>
          <a:prstGeom prst="rect">
            <a:avLst/>
          </a:prstGeom>
          <a:noFill/>
        </p:spPr>
        <p:txBody>
          <a:bodyPr wrap="none">
            <a:spAutoFit/>
          </a:bodyPr>
          <a:lstStyle/>
          <a:p>
            <a:pPr algn="r">
              <a:defRPr sz="1100" b="1">
                <a:solidFill>
                  <a:srgbClr val="333333"/>
                </a:solidFill>
                <a:latin typeface="メイリオ"/>
              </a:defRPr>
            </a:pPr>
            <a:r>
              <a:t>9</a:t>
            </a:r>
          </a:p>
        </p:txBody>
      </p:sp>
    </p:spTree>
  </p:cSld>
  <p:clrMapOvr>
    <a:masterClrMapping/>
  </p:clrMapOvr>
</p:sld>
</file>

<file path=ppt/theme/theme1.xml><?xml version="1.0" encoding="utf-8"?>
<a:theme xmlns:a="http://schemas.openxmlformats.org/drawingml/2006/main" name="Office テーマ">
  <a:themeElements>
    <a:clrScheme name="ユーザー定義 2">
      <a:dk1>
        <a:srgbClr val="545454"/>
      </a:dk1>
      <a:lt1>
        <a:srgbClr val="FFFFFF"/>
      </a:lt1>
      <a:dk2>
        <a:srgbClr val="FFFFFF"/>
      </a:dk2>
      <a:lt2>
        <a:srgbClr val="EFEFEF"/>
      </a:lt2>
      <a:accent1>
        <a:srgbClr val="93A1DF"/>
      </a:accent1>
      <a:accent2>
        <a:srgbClr val="F7AC00"/>
      </a:accent2>
      <a:accent3>
        <a:srgbClr val="22B295"/>
      </a:accent3>
      <a:accent4>
        <a:srgbClr val="2CB1E7"/>
      </a:accent4>
      <a:accent5>
        <a:srgbClr val="FA8591"/>
      </a:accent5>
      <a:accent6>
        <a:srgbClr val="FFFFFF"/>
      </a:accent6>
      <a:hlink>
        <a:srgbClr val="0563C1"/>
      </a:hlink>
      <a:folHlink>
        <a:srgbClr val="954F72"/>
      </a:folHlink>
    </a:clrScheme>
    <a:fontScheme name="ユーザー定義 2">
      <a:majorFont>
        <a:latin typeface="Arial"/>
        <a:ea typeface="游ゴシック"/>
        <a:cs typeface=""/>
      </a:majorFont>
      <a:minorFont>
        <a:latin typeface="Arial"/>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40000"/>
            <a:lumOff val="60000"/>
          </a:schemeClr>
        </a:solidFill>
      </a:spPr>
      <a:bodyPr rtlCol="0" anchor="t" anchorCtr="1"/>
      <a:lstStyle>
        <a:defPPr algn="l">
          <a:defRPr kumimoji="1" sz="1600" b="1" dirty="0" smtClean="0">
            <a:solidFill>
              <a:srgbClr val="0033CC"/>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2036</TotalTime>
  <Words>1</Words>
  <Application>Microsoft Office PowerPoint</Application>
  <PresentationFormat>ワイド画面</PresentationFormat>
  <Paragraphs>1</Paragraphs>
  <Slides>1</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Arial</vt:lpstr>
      <vt:lpstr>Calibri</vt: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2301677 aspark</dc:creator>
  <cp:lastModifiedBy>孝一 末永</cp:lastModifiedBy>
  <cp:revision>86</cp:revision>
  <dcterms:created xsi:type="dcterms:W3CDTF">2024-08-19T02:44:00Z</dcterms:created>
  <dcterms:modified xsi:type="dcterms:W3CDTF">2026-09-11T07:25:01Z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1041-11.8.2.8498</vt:lpwstr>
  </property>
</Properties>
</file>